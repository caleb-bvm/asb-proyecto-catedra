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0" d="100"/>
          <a:sy n="150" d="100"/>
        </p:scale>
        <p:origin x="654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08769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Presentamos FonaVitSV, solución académica para organizar la operación de una cooperativa. La Fase II implementa y verifica la base SQL y desarrolla un prototipo navegable. Los dos entornos son independientes, conforme al alcance de la Parte 05. Participan Michael Caleb Ortiz Meléndez, Nathaly Ivania Martinez Guerrero y Carlos Alberto Gómez Flores.</a:t>
            </a:r>
          </a:p>
          <a:p>
            <a:endParaRPr/>
          </a:p>
          <a:p>
            <a:r>
              <a:t>Fuente: Proyecto_ASB(1).docx, manual de FonaVitSV Fase II, 11 de octubre de 2026. Las evidencias se presentan según lo reportado en ese documento.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El problema descrito es la organización manual de clientes, cuentas y operaciones. Se conserva el modelo principal de la Fase I y se permite que un cliente tenga varias cuentas. No afirmamos que el prototipo sea un sistema bancario productivo: utiliza datos ficticios y acceso simulado. La implementación SQL y el prototipo se prueban por separado.</a:t>
            </a:r>
          </a:p>
          <a:p>
            <a:endParaRPr/>
          </a:p>
          <a:p>
            <a:r>
              <a:t>Fuente: Proyecto_ASB(1).docx, manual de FonaVitSV Fase II, 11 de octubre de 2026. Las evidencias se presentan según lo reportado en ese documento.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La entrega incluye el manual editable y su PDF, los scripts SQL, los diagramas, el prototipo y las evidencias. El proyecto documenta cinco partes. Se supera el mínimo de dos vistas al entregar tres. Las veinte auditorías iniciales se generan mediante el trigger al cargar los clientes; no se insertan como eventos ficticios independientes.</a:t>
            </a:r>
          </a:p>
          <a:p>
            <a:endParaRPr/>
          </a:p>
          <a:p>
            <a:r>
              <a:t>Fuente: Proyecto_ASB(1).docx, manual de FonaVitSV Fase II, 11 de octubre de 2026. Las evidencias se presentan según lo reportado en ese documento.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CLIENTE se relaciona con CUENTA, y desde la cuenta se obtienen el titular de cada movimiento y el deudor de cada préstamo. EMPLEADO identifica a quien atiende o gestiona. codigo_jefe es una referencia opcional a EMPLEADO. AUDITORIA registra el código histórico del cliente sin FK para conservar evidencias tras una eliminación. El DUI de la persona que realiza una transacción puede corresponder a un tercero.</a:t>
            </a:r>
          </a:p>
          <a:p>
            <a:endParaRPr/>
          </a:p>
          <a:p>
            <a:r>
              <a:t>Fuente: Proyecto_ASB(1).docx, manual de FonaVitSV Fase II, 11 de octubre de 2026. Las evidencias se presentan según lo reportado en ese documento.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En 1FN, la dirección se descompone y cada cuenta ocupa su propia fila. En 2FN, las claves son simples y los atributos dependen de la entidad identificada. En 3FN, no se repiten los datos personales en cuentas y operaciones. La edad se calcula desde nacimiento y el saldo desde movimientos. AUDITORIA conserva copias históricas deliberadamente. Las restricciones SQL no equivalen a todas las validaciones de la interfaz: por ejemplo, SQL no implementa saldo disponible para operaciones concurrentes.</a:t>
            </a:r>
          </a:p>
          <a:p>
            <a:endParaRPr/>
          </a:p>
          <a:p>
            <a:r>
              <a:t>Fuente: Proyecto_ASB(1).docx, manual de FonaVitSV Fase II, 11 de octubre de 2026. Las evidencias se presentan según lo reportado en ese documento.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 cargan veinte empleados, veinte clientes, veinticinco cuentas, cincuenta transacciones, veinte préstamos y veinte auditorías. Los datos ficticios suman 55,000 dólares de ahorro y 51,500 dólares de capital original. Cinco clientes tienen dos cuentas. La subconsulta compara cada préstamo con el promedio de 2,575 dólares. Estos resultados corresponden a la semilla inicial; no son cifras comerciales reales.</a:t>
            </a:r>
          </a:p>
          <a:p>
            <a:endParaRPr/>
          </a:p>
          <a:p>
            <a:r>
              <a:t>Fuente: Proyecto_ASB(1).docx, manual de FonaVitSV Fase II, 11 de octubre de 2026. Las evidencias se presentan según lo reportado en ese documento.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vw_SaldosCuenta usa LEFT JOIN para conservar cuentas sin movimientos y COALESCE para asignarles cero. vw_CarteraPrestamos relaciona préstamo, cuenta y cliente, y calcula una cuota referencial con interés simple anual. Para 1,200 dólares al 12% en doce meses: 144 dólares de interés y 112 dólares mensuales. No es un plan de amortización. vw_ClientesEdad resta un año cuando el cumpleaños aún no ha ocurrido.</a:t>
            </a:r>
          </a:p>
          <a:p>
            <a:endParaRPr/>
          </a:p>
          <a:p>
            <a:r>
              <a:t>Fuente: Proyecto_ASB(1).docx, manual de FonaVitSV Fase II, 11 de octubre de 2026. Las evidencias se presentan según lo reportado en ese documento.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tr_CLIENTE_Auditoria es un trigger AFTER INSERT, UPDATE, DELETE. Combina inserted y deleted por codigo_cliente mediante FULL OUTER JOIN, por lo que admite sentencias que afectan varias filas. Registra operación, usuario SQL con ORIGINAL_LOGIN, fecha UTC e instantáneas JSON. La prueba inserta, modifica y elimina dos clientes: seis eventos. ROLLBACK revierte tanto los cambios como sus auditorías; quedan las veinte auditorías iniciales. Los saltos de IDENTITY tras rollback son posibles y no prueban pérdida de registros.</a:t>
            </a:r>
          </a:p>
          <a:p>
            <a:endParaRPr/>
          </a:p>
          <a:p>
            <a:r>
              <a:t>Fuente: Proyecto_ASB(1).docx, manual de FonaVitSV Fase II, 11 de octubre de 2026. Las evidencias se presentan según lo reportado en ese documento.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El sitio usa HTML, CSS y JavaScript, sin internet ni librerías externas. localStorage guarda la demostración y sessionStorage conserva el acceso durante la sesión. Inicio muestra contadores y movimientos recientes. Al registrar un cliente, se abre la primera cuenta en cero. El perfil permite editar los datos y abrir otras cuentas. Hay etiquetas asociadas, foco visible, mensajes role alert y respeto a movimiento reducido. La apariencia propia del prototipo utiliza crema, terracota, ámbar y jade, aunque esta presentación conserva la estética solicitada.</a:t>
            </a:r>
          </a:p>
          <a:p>
            <a:endParaRPr/>
          </a:p>
          <a:p>
            <a:r>
              <a:t>Fuente: Proyecto_ASB(1).docx, manual de FonaVitSV Fase II, 11 de octubre de 2026. Las evidencias se presentan según lo reportado en ese documento.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En movimientos se seleccionan cuenta y empleado, se identifica a quien opera y se valida fecha y monto. La prueba depositó 250 dólares y retiró 50: saldo final 200. Un retiro previo de 300 fue rechazado. Los préstamos requieren cuenta activa en el prototipo; SQL exige su existencia mediante FK. Registrar un préstamo no genera un depósito automático. Los estados se actualizan manualmente. Empleados valida duplicados y sueldo positivo; el prototipo también impide ciclos de jefatura.</a:t>
            </a:r>
          </a:p>
          <a:p>
            <a:endParaRPr/>
          </a:p>
          <a:p>
            <a:r>
              <a:t>Fuente: Proyecto_ASB(1).docx, manual de FonaVitSV Fase II, 11 de octubre de 2026. Las evidencias se presentan según lo reportado en ese documento.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El documento reporta verificaciones SQL mediante sqlcmd y 21 comprobaciones satisfactorias en Chromium, sin errores JavaScript durante ese recorrido. Se probaron restricciones y auditoría multirregistro. El sitio verificó acceso, clientes, múltiples cuentas, depósitos, retiros, préstamos, empleados, persistencia y móvil a 390 px. Estos resultados no constituyen validación productiva ni pruebas de carga. Las capturas SQL provienen de reportes locales de salidas reales de sqlcmd, no de SSMS.</a:t>
            </a:r>
          </a:p>
          <a:p>
            <a:endParaRPr/>
          </a:p>
          <a:p>
            <a:r>
              <a:t>Fuente: Proyecto_ASB(1).docx, manual de FonaVitSV Fase II, 11 de octubre de 2026. Las evidencias se presentan según lo reportado en ese documento.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El modelo permite múltiples cuentas sin repetir datos personales. Las vistas facilitan consultar ahorro y cartera, y el trigger preserva el historial de CLIENTE. El prototipo demuestra los recorridos principales y la fase documenta pruebas reproducibles. Para producción se requeriría backend, autenticación, permisos, operaciones atómicas concurrentes, respaldos y un motor de préstamos. La cuota referencial no incluye seguros, comisiones, pagos parciales o interés sobre saldos; tampoco se registra el saldo pendiente real de la cartera. Instalar SQL exige ejecutar 01, 02 y 03 en orden y comprobar que la base no exista. Las pruebas usan 04, 05 y 06. Bibliografía del manual: guía UDB Fase II; materiales Fase I; Microsoft Learn sobre vistas y triggers multirregistro; Google Design y Material Design 3.</a:t>
            </a:r>
          </a:p>
          <a:p>
            <a:endParaRPr/>
          </a:p>
          <a:p>
            <a:r>
              <a:t>Fuente: Proyecto_ASB(1).docx, manual de FonaVitSV Fase II, 11 de octubre de 2026. Las evidencias se presentan según lo reportado en ese documento.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1155680" y="404368"/>
            <a:ext cx="82296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800"/>
              </a:spcAft>
              <a:defRPr sz="1200">
                <a:solidFill>
                  <a:srgbClr val="666666"/>
                </a:solidFill>
                <a:latin typeface="Space Mono"/>
              </a:defRPr>
            </a:pPr>
            <a:r>
              <a:rPr dirty="0"/>
              <a:t>01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9250" y="260310"/>
            <a:ext cx="3526790" cy="9233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3400">
                <a:solidFill>
                  <a:srgbClr val="171717"/>
                </a:solidFill>
                <a:latin typeface="NType82 Headline"/>
              </a:defRPr>
            </a:pPr>
            <a:r>
              <a:rPr sz="6000" dirty="0" err="1">
                <a:latin typeface="NType 82 Headline" panose="02060606050402040103" pitchFamily="18" charset="0"/>
              </a:rPr>
              <a:t>FonaVitSV</a:t>
            </a:r>
            <a:endParaRPr sz="6000" dirty="0">
              <a:latin typeface="NType 82 Headline" panose="02060606050402040103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49250" y="1284993"/>
            <a:ext cx="109728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FF8137"/>
                </a:solidFill>
                <a:latin typeface="Space Mono"/>
              </a:defRPr>
            </a:pPr>
            <a:r>
              <a:rPr dirty="0"/>
              <a:t>IMPLEMENTACIÓN DE BASE DE DATOS Y PROTOTIPO FUNCIONAL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37376"/>
            <a:ext cx="10972800" cy="13716"/>
          </a:xfrm>
          <a:prstGeom prst="rect">
            <a:avLst/>
          </a:prstGeom>
          <a:solidFill>
            <a:srgbClr val="171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519672"/>
            <a:ext cx="100584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900">
                <a:solidFill>
                  <a:srgbClr val="666666"/>
                </a:solidFill>
                <a:latin typeface="Space Mono"/>
              </a:defRPr>
            </a:pPr>
            <a:r>
              <a:t>UDB · ASB404 · Proyecto de Cátedra · Fase II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606040"/>
            <a:ext cx="7315200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3000">
                <a:solidFill>
                  <a:srgbClr val="171717"/>
                </a:solidFill>
                <a:latin typeface="NType82 Headline"/>
              </a:defRPr>
            </a:pPr>
            <a:r>
              <a:rPr dirty="0"/>
              <a:t>De </a:t>
            </a:r>
            <a:r>
              <a:rPr dirty="0" err="1"/>
              <a:t>procesos</a:t>
            </a:r>
            <a:r>
              <a:rPr dirty="0"/>
              <a:t> </a:t>
            </a:r>
            <a:r>
              <a:rPr dirty="0" err="1"/>
              <a:t>manuales</a:t>
            </a:r>
            <a:r>
              <a:rPr dirty="0"/>
              <a:t> a </a:t>
            </a:r>
            <a:r>
              <a:rPr dirty="0" err="1"/>
              <a:t>información</a:t>
            </a:r>
            <a:endParaRPr dirty="0"/>
          </a:p>
          <a:p>
            <a:pPr>
              <a:spcAft>
                <a:spcPts val="800"/>
              </a:spcAft>
              <a:defRPr sz="3000">
                <a:solidFill>
                  <a:srgbClr val="171717"/>
                </a:solidFill>
                <a:latin typeface="NType82 Headline"/>
              </a:defRPr>
            </a:pPr>
            <a:r>
              <a:rPr dirty="0" err="1"/>
              <a:t>organizada</a:t>
            </a:r>
            <a:r>
              <a:rPr dirty="0"/>
              <a:t>, </a:t>
            </a:r>
            <a:r>
              <a:rPr dirty="0" err="1"/>
              <a:t>relacionada</a:t>
            </a:r>
            <a:r>
              <a:rPr dirty="0"/>
              <a:t> y </a:t>
            </a:r>
            <a:r>
              <a:rPr dirty="0" err="1"/>
              <a:t>verificable</a:t>
            </a:r>
            <a:r>
              <a:rPr dirty="0"/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114800"/>
            <a:ext cx="73152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300">
                <a:solidFill>
                  <a:srgbClr val="171717"/>
                </a:solidFill>
                <a:latin typeface="NType82"/>
              </a:defRPr>
            </a:pPr>
            <a:r>
              <a:rPr dirty="0" err="1"/>
              <a:t>Clientes</a:t>
            </a:r>
            <a:r>
              <a:rPr dirty="0"/>
              <a:t> · Cuentas · </a:t>
            </a:r>
            <a:r>
              <a:rPr dirty="0" err="1"/>
              <a:t>Transacciones</a:t>
            </a:r>
            <a:endParaRPr dirty="0"/>
          </a:p>
          <a:p>
            <a:pPr>
              <a:spcAft>
                <a:spcPts val="800"/>
              </a:spcAft>
              <a:defRPr sz="2300">
                <a:solidFill>
                  <a:srgbClr val="171717"/>
                </a:solidFill>
                <a:latin typeface="NType82"/>
              </a:defRPr>
            </a:pPr>
            <a:r>
              <a:rPr dirty="0" err="1"/>
              <a:t>Préstamos</a:t>
            </a:r>
            <a:r>
              <a:rPr dirty="0"/>
              <a:t> · </a:t>
            </a:r>
            <a:r>
              <a:rPr dirty="0" err="1"/>
              <a:t>Empleados</a:t>
            </a:r>
            <a:r>
              <a:rPr dirty="0"/>
              <a:t> · </a:t>
            </a:r>
            <a:r>
              <a:rPr dirty="0" err="1"/>
              <a:t>Auditoría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594360" y="539496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71717"/>
                </a:solidFill>
                <a:latin typeface="NType82"/>
              </a:defRPr>
            </a:pPr>
            <a:r>
              <a:t>Michael Caleb Ortiz Meléndez · OM260275</a:t>
            </a:r>
          </a:p>
          <a:p>
            <a:pPr>
              <a:spcAft>
                <a:spcPts val="800"/>
              </a:spcAft>
              <a:defRPr sz="1400">
                <a:solidFill>
                  <a:srgbClr val="171717"/>
                </a:solidFill>
                <a:latin typeface="NType82"/>
              </a:defRPr>
            </a:pPr>
            <a:r>
              <a:t>Nathaly Ivania Martinez Guerrero · MG260121</a:t>
            </a:r>
          </a:p>
          <a:p>
            <a:pPr>
              <a:spcAft>
                <a:spcPts val="800"/>
              </a:spcAft>
              <a:defRPr sz="1400">
                <a:solidFill>
                  <a:srgbClr val="171717"/>
                </a:solidFill>
                <a:latin typeface="NType82"/>
              </a:defRPr>
            </a:pPr>
            <a:r>
              <a:t>Carlos Alberto Gómez Flores · GF261954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0" y="2560320"/>
            <a:ext cx="2423160" cy="3337560"/>
          </a:xfrm>
          <a:prstGeom prst="rect">
            <a:avLst/>
          </a:prstGeom>
          <a:solidFill>
            <a:srgbClr val="171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372600" y="2834640"/>
            <a:ext cx="201168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3500">
                <a:solidFill>
                  <a:srgbClr val="FFFFFF"/>
                </a:solidFill>
                <a:latin typeface="Ndot77"/>
              </a:defRPr>
            </a:pPr>
            <a:r>
              <a:t>FASE</a:t>
            </a:r>
          </a:p>
          <a:p>
            <a:pPr>
              <a:spcAft>
                <a:spcPts val="800"/>
              </a:spcAft>
              <a:defRPr sz="3500">
                <a:solidFill>
                  <a:srgbClr val="FFFFFF"/>
                </a:solidFill>
                <a:latin typeface="Ndot77"/>
              </a:defRPr>
            </a:pPr>
            <a:r>
              <a:t>II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72600" y="4434840"/>
            <a:ext cx="192024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Space Mono"/>
              </a:defRPr>
            </a:pPr>
            <a:r>
              <a:t>ASB404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Space Mono"/>
              </a:defRPr>
            </a:pPr>
            <a:r>
              <a:t>Grupo 02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Space Mono"/>
              </a:defRPr>
            </a:pPr>
            <a:r>
              <a:t>Ing. Aida Quintanilla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300">
                <a:solidFill>
                  <a:srgbClr val="171717"/>
                </a:solidFill>
                <a:latin typeface="Ndot77"/>
              </a:defRPr>
            </a:pPr>
            <a:r>
              <a:t>FonaVitSV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29800" y="36576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666666"/>
                </a:solidFill>
                <a:latin typeface="Space Mono"/>
              </a:defRPr>
            </a:pPr>
            <a:r>
              <a:t>02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1097280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3400">
                <a:solidFill>
                  <a:srgbClr val="171717"/>
                </a:solidFill>
                <a:latin typeface="NType82 Headline"/>
              </a:defRPr>
            </a:pPr>
            <a:r>
              <a:t>Problema, objetivo y alcance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874519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FF8137"/>
                </a:solidFill>
                <a:latin typeface="Space Mono"/>
              </a:defRPr>
            </a:pPr>
            <a:r>
              <a:t>QUÉ RESOLVEMOS Y HASTA DÓNDE LLEGA ESTA FASE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37376"/>
            <a:ext cx="10972800" cy="13716"/>
          </a:xfrm>
          <a:prstGeom prst="rect">
            <a:avLst/>
          </a:prstGeom>
          <a:solidFill>
            <a:srgbClr val="171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519672"/>
            <a:ext cx="100584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900">
                <a:solidFill>
                  <a:srgbClr val="666666"/>
                </a:solidFill>
                <a:latin typeface="Space Mono"/>
              </a:defRPr>
            </a:pPr>
            <a:r>
              <a:t>UDB · ASB404 · Proyecto de Cátedra · Fase II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2487168"/>
            <a:ext cx="73152" cy="384048"/>
          </a:xfrm>
          <a:prstGeom prst="rect">
            <a:avLst/>
          </a:prstGeom>
          <a:solidFill>
            <a:srgbClr val="FF8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2450592"/>
            <a:ext cx="3230879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400">
                <a:solidFill>
                  <a:srgbClr val="171717"/>
                </a:solidFill>
                <a:latin typeface="NType82 Headline"/>
              </a:defRPr>
            </a:pPr>
            <a:r>
              <a:t>Problema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246120"/>
            <a:ext cx="3413759" cy="2514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71717"/>
                </a:solidFill>
                <a:latin typeface="NType82"/>
              </a:defRPr>
            </a:pPr>
            <a:r>
              <a:t>Procesos manuales dificultan organizar clientes, movimientos y préstamos.</a:t>
            </a:r>
          </a:p>
          <a:p>
            <a:pPr>
              <a:spcAft>
                <a:spcPts val="800"/>
              </a:spcAft>
              <a:defRPr sz="2000">
                <a:solidFill>
                  <a:srgbClr val="171717"/>
                </a:solidFill>
                <a:latin typeface="NType82"/>
              </a:defRPr>
            </a:pPr>
            <a:r>
              <a:t>Se necesita admitir varias cuentas por cliente sin duplicar sus datos.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73880" y="2487168"/>
            <a:ext cx="73152" cy="384048"/>
          </a:xfrm>
          <a:prstGeom prst="rect">
            <a:avLst/>
          </a:prstGeom>
          <a:solidFill>
            <a:srgbClr val="FF8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56760" y="2450592"/>
            <a:ext cx="3230879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400">
                <a:solidFill>
                  <a:srgbClr val="171717"/>
                </a:solidFill>
                <a:latin typeface="NType82 Headline"/>
              </a:defRPr>
            </a:pPr>
            <a:r>
              <a:t>Objetivo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73880" y="3246120"/>
            <a:ext cx="3413759" cy="2514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71717"/>
                </a:solidFill>
                <a:latin typeface="NType82"/>
              </a:defRPr>
            </a:pPr>
            <a:r>
              <a:t>Construir una base con relaciones y reglas de integridad.</a:t>
            </a:r>
          </a:p>
          <a:p>
            <a:pPr>
              <a:spcAft>
                <a:spcPts val="800"/>
              </a:spcAft>
              <a:defRPr sz="2000">
                <a:solidFill>
                  <a:srgbClr val="171717"/>
                </a:solidFill>
                <a:latin typeface="NType82"/>
              </a:defRPr>
            </a:pPr>
            <a:r>
              <a:t>Consultar ahorro y cartera, registrar cambios y demostrar los procesos mediante un prototipo.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53399" y="2487168"/>
            <a:ext cx="73152" cy="384048"/>
          </a:xfrm>
          <a:prstGeom prst="rect">
            <a:avLst/>
          </a:prstGeom>
          <a:solidFill>
            <a:srgbClr val="FF8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36279" y="2450592"/>
            <a:ext cx="3230879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400">
                <a:solidFill>
                  <a:srgbClr val="171717"/>
                </a:solidFill>
                <a:latin typeface="NType82 Headline"/>
              </a:defRPr>
            </a:pPr>
            <a:r>
              <a:t>Alcance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53399" y="3246120"/>
            <a:ext cx="3413759" cy="2514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71717"/>
                </a:solidFill>
                <a:latin typeface="NType82"/>
              </a:defRPr>
            </a:pPr>
            <a:r>
              <a:t>SQL Server 2025 Express: base implementada y probada.</a:t>
            </a:r>
          </a:p>
          <a:p>
            <a:pPr>
              <a:spcAft>
                <a:spcPts val="800"/>
              </a:spcAft>
              <a:defRPr sz="2000">
                <a:solidFill>
                  <a:srgbClr val="171717"/>
                </a:solidFill>
                <a:latin typeface="NType82"/>
              </a:defRPr>
            </a:pPr>
            <a:r>
              <a:t>HTML, CSS y JavaScript: demostración en el navegador con datos ficticios.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852160"/>
            <a:ext cx="109728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666666"/>
                </a:solidFill>
                <a:latin typeface="NType82"/>
              </a:defRPr>
            </a:pPr>
            <a:r>
              <a:t>La Parte 05 no exige conexión entre el prototipo y la base de datos.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300">
                <a:solidFill>
                  <a:srgbClr val="171717"/>
                </a:solidFill>
                <a:latin typeface="Ndot77"/>
              </a:defRPr>
            </a:pPr>
            <a:r>
              <a:t>FonaVitSV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29800" y="36576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666666"/>
                </a:solidFill>
                <a:latin typeface="Space Mono"/>
              </a:defRPr>
            </a:pPr>
            <a:r>
              <a:t>03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1097280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3400">
                <a:solidFill>
                  <a:srgbClr val="171717"/>
                </a:solidFill>
                <a:latin typeface="NType82 Headline"/>
              </a:defRPr>
            </a:pPr>
            <a:r>
              <a:t>Una entrega en cinco partes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874519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FF8137"/>
                </a:solidFill>
                <a:latin typeface="Space Mono"/>
              </a:defRPr>
            </a:pPr>
            <a:r>
              <a:t>CORRESPONDENCIA ENTRE REQUISITOS Y RESULTADOS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37376"/>
            <a:ext cx="10972800" cy="13716"/>
          </a:xfrm>
          <a:prstGeom prst="rect">
            <a:avLst/>
          </a:prstGeom>
          <a:solidFill>
            <a:srgbClr val="171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519672"/>
            <a:ext cx="100584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900">
                <a:solidFill>
                  <a:srgbClr val="666666"/>
                </a:solidFill>
                <a:latin typeface="Space Mono"/>
              </a:defRPr>
            </a:pPr>
            <a:r>
              <a:t>UDB · ASB404 · Proyecto de Cátedra · Fase II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2514600"/>
            <a:ext cx="731520" cy="429768"/>
          </a:xfrm>
          <a:prstGeom prst="rect">
            <a:avLst/>
          </a:prstGeom>
          <a:solidFill>
            <a:srgbClr val="171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04088" y="2606040"/>
            <a:ext cx="51206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  <a:latin typeface="Space Mono"/>
              </a:defRPr>
            </a:pPr>
            <a:r>
              <a:t>PARTE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25880" y="2514600"/>
            <a:ext cx="3291840" cy="429768"/>
          </a:xfrm>
          <a:prstGeom prst="rect">
            <a:avLst/>
          </a:prstGeom>
          <a:solidFill>
            <a:srgbClr val="171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435608" y="2606040"/>
            <a:ext cx="307238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  <a:latin typeface="Space Mono"/>
              </a:defRPr>
            </a:pPr>
            <a:r>
              <a:t>REQUISITO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17720" y="2514600"/>
            <a:ext cx="6949440" cy="429768"/>
          </a:xfrm>
          <a:prstGeom prst="rect">
            <a:avLst/>
          </a:prstGeom>
          <a:solidFill>
            <a:srgbClr val="171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27448" y="2606040"/>
            <a:ext cx="6729983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  <a:latin typeface="Space Mono"/>
              </a:defRPr>
            </a:pPr>
            <a:r>
              <a:t>ENTREGA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2962656"/>
            <a:ext cx="731520" cy="576072"/>
          </a:xfrm>
          <a:prstGeom prst="rect">
            <a:avLst/>
          </a:prstGeom>
          <a:solidFill>
            <a:srgbClr val="F0E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04088" y="3035808"/>
            <a:ext cx="512064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71717"/>
                </a:solidFill>
                <a:latin typeface="NType82"/>
              </a:defRPr>
            </a:pPr>
            <a:r>
              <a:t>01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25880" y="2962656"/>
            <a:ext cx="3291840" cy="576072"/>
          </a:xfrm>
          <a:prstGeom prst="rect">
            <a:avLst/>
          </a:prstGeom>
          <a:solidFill>
            <a:srgbClr val="F0E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435608" y="3035808"/>
            <a:ext cx="3072384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71717"/>
                </a:solidFill>
                <a:latin typeface="NType82"/>
              </a:defRPr>
            </a:pPr>
            <a:r>
              <a:t>Modelo, normalización y datos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17720" y="2962656"/>
            <a:ext cx="6949440" cy="576072"/>
          </a:xfrm>
          <a:prstGeom prst="rect">
            <a:avLst/>
          </a:prstGeom>
          <a:solidFill>
            <a:srgbClr val="F0E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727448" y="3035808"/>
            <a:ext cx="6729983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71717"/>
                </a:solidFill>
                <a:latin typeface="NType82"/>
              </a:defRPr>
            </a:pPr>
            <a:r>
              <a:t>6 tablas; mínimo 20 filas por tabla; diagramas actualizados.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3557016"/>
            <a:ext cx="731520" cy="576072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04088" y="3630168"/>
            <a:ext cx="512064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71717"/>
                </a:solidFill>
                <a:latin typeface="NType82"/>
              </a:defRPr>
            </a:pPr>
            <a:r>
              <a:t>02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25880" y="3557016"/>
            <a:ext cx="3291840" cy="576072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435608" y="3630168"/>
            <a:ext cx="3072384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71717"/>
                </a:solidFill>
                <a:latin typeface="NType82"/>
              </a:defRPr>
            </a:pPr>
            <a:r>
              <a:t>Consultas y vistas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17720" y="3557016"/>
            <a:ext cx="6949440" cy="576072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727448" y="3630168"/>
            <a:ext cx="6729983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71717"/>
                </a:solidFill>
                <a:latin typeface="NType82"/>
              </a:defRPr>
            </a:pPr>
            <a:r>
              <a:t>WHERE, JOIN, GROUP BY, HAVING, subconsulta y 3 vistas.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" y="4151376"/>
            <a:ext cx="731520" cy="576072"/>
          </a:xfrm>
          <a:prstGeom prst="rect">
            <a:avLst/>
          </a:prstGeom>
          <a:solidFill>
            <a:srgbClr val="F0E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04088" y="4224528"/>
            <a:ext cx="512064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71717"/>
                </a:solidFill>
                <a:latin typeface="NType82"/>
              </a:defRPr>
            </a:pPr>
            <a:r>
              <a:t>03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325880" y="4151376"/>
            <a:ext cx="3291840" cy="576072"/>
          </a:xfrm>
          <a:prstGeom prst="rect">
            <a:avLst/>
          </a:prstGeom>
          <a:solidFill>
            <a:srgbClr val="F0E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435608" y="4224528"/>
            <a:ext cx="3072384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71717"/>
                </a:solidFill>
                <a:latin typeface="NType82"/>
              </a:defRPr>
            </a:pPr>
            <a:r>
              <a:t>Automatización y auditoría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17720" y="4151376"/>
            <a:ext cx="6949440" cy="576072"/>
          </a:xfrm>
          <a:prstGeom prst="rect">
            <a:avLst/>
          </a:prstGeom>
          <a:solidFill>
            <a:srgbClr val="F0E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727448" y="4224528"/>
            <a:ext cx="6729983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71717"/>
                </a:solidFill>
                <a:latin typeface="NType82"/>
              </a:defRPr>
            </a:pPr>
            <a:r>
              <a:t>Trigger de CLIENTE; INSERT, UPDATE y DELETE multirregistro.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" y="4745736"/>
            <a:ext cx="731520" cy="576072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04088" y="4818888"/>
            <a:ext cx="512064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71717"/>
                </a:solidFill>
                <a:latin typeface="NType82"/>
              </a:defRPr>
            </a:pPr>
            <a:r>
              <a:t>04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325880" y="4745736"/>
            <a:ext cx="3291840" cy="576072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435608" y="4818888"/>
            <a:ext cx="3072384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71717"/>
                </a:solidFill>
                <a:latin typeface="NType82"/>
              </a:defRPr>
            </a:pPr>
            <a:r>
              <a:t>Manual técnico y evidencias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17720" y="4745736"/>
            <a:ext cx="6949440" cy="576072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727448" y="4818888"/>
            <a:ext cx="6729983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71717"/>
                </a:solidFill>
                <a:latin typeface="NType82"/>
              </a:defRPr>
            </a:pPr>
            <a:r>
              <a:t>Instalación, resultados, capturas, límites y conclusiones.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4360" y="5340096"/>
            <a:ext cx="731520" cy="576072"/>
          </a:xfrm>
          <a:prstGeom prst="rect">
            <a:avLst/>
          </a:prstGeom>
          <a:solidFill>
            <a:srgbClr val="F0E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04088" y="5413248"/>
            <a:ext cx="512064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71717"/>
                </a:solidFill>
                <a:latin typeface="NType82"/>
              </a:defRPr>
            </a:pPr>
            <a:r>
              <a:t>05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325880" y="5340096"/>
            <a:ext cx="3291840" cy="576072"/>
          </a:xfrm>
          <a:prstGeom prst="rect">
            <a:avLst/>
          </a:prstGeom>
          <a:solidFill>
            <a:srgbClr val="F0E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435608" y="5413248"/>
            <a:ext cx="3072384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71717"/>
                </a:solidFill>
                <a:latin typeface="NType82"/>
              </a:defRPr>
            </a:pPr>
            <a:r>
              <a:t>Prototipo funcional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617720" y="5340096"/>
            <a:ext cx="6949440" cy="576072"/>
          </a:xfrm>
          <a:prstGeom prst="rect">
            <a:avLst/>
          </a:prstGeom>
          <a:solidFill>
            <a:srgbClr val="F0E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727448" y="5413248"/>
            <a:ext cx="6729983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71717"/>
                </a:solidFill>
                <a:latin typeface="NType82"/>
              </a:defRPr>
            </a:pPr>
            <a:r>
              <a:t>Acceso, inicio, clientes, transacciones, préstamos y empleados.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4360" y="598932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666666"/>
                </a:solidFill>
                <a:latin typeface="Space Mono"/>
              </a:defRPr>
            </a:pPr>
            <a:r>
              <a:t>Paquete: SQL · Prototipo · Diagramas · Pruebas · Evidencias · Referencias de Fase 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300">
                <a:solidFill>
                  <a:srgbClr val="171717"/>
                </a:solidFill>
                <a:latin typeface="Ndot77"/>
              </a:defRPr>
            </a:pPr>
            <a:r>
              <a:t>FonaVitSV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29800" y="36576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666666"/>
                </a:solidFill>
                <a:latin typeface="Space Mono"/>
              </a:defRPr>
            </a:pPr>
            <a:r>
              <a:t>04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1097280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3400">
                <a:solidFill>
                  <a:srgbClr val="171717"/>
                </a:solidFill>
                <a:latin typeface="NType82 Headline"/>
              </a:defRPr>
            </a:pPr>
            <a:r>
              <a:t>Modelo de datos y relaciones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874519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FF8137"/>
                </a:solidFill>
                <a:latin typeface="Space Mono"/>
              </a:defRPr>
            </a:pPr>
            <a:r>
              <a:t>CINCO ENTIDADES OPERATIVAS Y UN REGISTRO HISTÓRICO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37376"/>
            <a:ext cx="10972800" cy="13716"/>
          </a:xfrm>
          <a:prstGeom prst="rect">
            <a:avLst/>
          </a:prstGeom>
          <a:solidFill>
            <a:srgbClr val="171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519672"/>
            <a:ext cx="100584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900">
                <a:solidFill>
                  <a:srgbClr val="666666"/>
                </a:solidFill>
                <a:latin typeface="Space Mono"/>
              </a:defRPr>
            </a:pPr>
            <a:r>
              <a:t>UDB · ASB404 · Proyecto de Cátedra · Fase II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2514600"/>
            <a:ext cx="3200400" cy="429768"/>
          </a:xfrm>
          <a:prstGeom prst="rect">
            <a:avLst/>
          </a:prstGeom>
          <a:solidFill>
            <a:srgbClr val="171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04088" y="2606040"/>
            <a:ext cx="298094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  <a:latin typeface="Space Mono"/>
              </a:defRPr>
            </a:pPr>
            <a:r>
              <a:t>RELACIÓN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94760" y="2514600"/>
            <a:ext cx="1828800" cy="429768"/>
          </a:xfrm>
          <a:prstGeom prst="rect">
            <a:avLst/>
          </a:prstGeom>
          <a:solidFill>
            <a:srgbClr val="171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904488" y="2606040"/>
            <a:ext cx="160934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  <a:latin typeface="Space Mono"/>
              </a:defRPr>
            </a:pPr>
            <a:r>
              <a:t>CARDINALIDAD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23560" y="2514600"/>
            <a:ext cx="5943600" cy="429768"/>
          </a:xfrm>
          <a:prstGeom prst="rect">
            <a:avLst/>
          </a:prstGeom>
          <a:solidFill>
            <a:srgbClr val="171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733288" y="2606040"/>
            <a:ext cx="572414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  <a:latin typeface="Space Mono"/>
              </a:defRPr>
            </a:pPr>
            <a:r>
              <a:t>DECISIÓN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2962656"/>
            <a:ext cx="3200400" cy="448056"/>
          </a:xfrm>
          <a:prstGeom prst="rect">
            <a:avLst/>
          </a:prstGeom>
          <a:solidFill>
            <a:srgbClr val="F0E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04088" y="3035808"/>
            <a:ext cx="2980944" cy="3749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71717"/>
                </a:solidFill>
                <a:latin typeface="NType82"/>
              </a:defRPr>
            </a:pPr>
            <a:r>
              <a:t>CLIENTE → CUENTA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94760" y="2962656"/>
            <a:ext cx="1828800" cy="448056"/>
          </a:xfrm>
          <a:prstGeom prst="rect">
            <a:avLst/>
          </a:prstGeom>
          <a:solidFill>
            <a:srgbClr val="F0E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904488" y="3035808"/>
            <a:ext cx="1609344" cy="3749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71717"/>
                </a:solidFill>
                <a:latin typeface="NType82"/>
              </a:defRPr>
            </a:pPr>
            <a:r>
              <a:t>1 a 0..N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23560" y="2962656"/>
            <a:ext cx="5943600" cy="448056"/>
          </a:xfrm>
          <a:prstGeom prst="rect">
            <a:avLst/>
          </a:prstGeom>
          <a:solidFill>
            <a:srgbClr val="F0E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733288" y="3035808"/>
            <a:ext cx="5724144" cy="3749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71717"/>
                </a:solidFill>
                <a:latin typeface="NType82"/>
              </a:defRPr>
            </a:pPr>
            <a:r>
              <a:t>Un cliente puede tener varias cuentas.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3429000"/>
            <a:ext cx="3200400" cy="448056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04088" y="3502152"/>
            <a:ext cx="2980944" cy="3749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71717"/>
                </a:solidFill>
                <a:latin typeface="NType82"/>
              </a:defRPr>
            </a:pPr>
            <a:r>
              <a:t>CUENTA → TRANSACCION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794760" y="3429000"/>
            <a:ext cx="1828800" cy="448056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904488" y="3502152"/>
            <a:ext cx="1609344" cy="3749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71717"/>
                </a:solidFill>
                <a:latin typeface="NType82"/>
              </a:defRPr>
            </a:pPr>
            <a:r>
              <a:t>1 a 0..N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23560" y="3429000"/>
            <a:ext cx="5943600" cy="448056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733288" y="3502152"/>
            <a:ext cx="5724144" cy="3749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71717"/>
                </a:solidFill>
                <a:latin typeface="NType82"/>
              </a:defRPr>
            </a:pPr>
            <a:r>
              <a:t>Cada movimiento requiere una cuenta existente.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" y="3895344"/>
            <a:ext cx="3200400" cy="448056"/>
          </a:xfrm>
          <a:prstGeom prst="rect">
            <a:avLst/>
          </a:prstGeom>
          <a:solidFill>
            <a:srgbClr val="F0E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04088" y="3968496"/>
            <a:ext cx="2980944" cy="3749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71717"/>
                </a:solidFill>
                <a:latin typeface="NType82"/>
              </a:defRPr>
            </a:pPr>
            <a:r>
              <a:t>CUENTA → PRESTAMO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794760" y="3895344"/>
            <a:ext cx="1828800" cy="448056"/>
          </a:xfrm>
          <a:prstGeom prst="rect">
            <a:avLst/>
          </a:prstGeom>
          <a:solidFill>
            <a:srgbClr val="F0E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904488" y="3968496"/>
            <a:ext cx="1609344" cy="3749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71717"/>
                </a:solidFill>
                <a:latin typeface="NType82"/>
              </a:defRPr>
            </a:pPr>
            <a:r>
              <a:t>1 a 0..N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23560" y="3895344"/>
            <a:ext cx="5943600" cy="448056"/>
          </a:xfrm>
          <a:prstGeom prst="rect">
            <a:avLst/>
          </a:prstGeom>
          <a:solidFill>
            <a:srgbClr val="F0E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733288" y="3968496"/>
            <a:ext cx="5724144" cy="3749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71717"/>
                </a:solidFill>
                <a:latin typeface="NType82"/>
              </a:defRPr>
            </a:pPr>
            <a:r>
              <a:t>El deudor se identifica mediante la cuenta.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" y="4361688"/>
            <a:ext cx="3200400" cy="448056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04088" y="4434840"/>
            <a:ext cx="2980944" cy="3749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71717"/>
                </a:solidFill>
                <a:latin typeface="NType82"/>
              </a:defRPr>
            </a:pPr>
            <a:r>
              <a:t>EMPLEADO → operaciones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794760" y="4361688"/>
            <a:ext cx="1828800" cy="448056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904488" y="4434840"/>
            <a:ext cx="1609344" cy="3749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71717"/>
                </a:solidFill>
                <a:latin typeface="NType82"/>
              </a:defRPr>
            </a:pPr>
            <a:r>
              <a:t>1 a 0..N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23560" y="4361688"/>
            <a:ext cx="5943600" cy="448056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733288" y="4434840"/>
            <a:ext cx="5724144" cy="3749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71717"/>
                </a:solidFill>
                <a:latin typeface="NType82"/>
              </a:defRPr>
            </a:pPr>
            <a:r>
              <a:t>codigo_usuario identifica al empleado responsable.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4360" y="4828032"/>
            <a:ext cx="3200400" cy="448056"/>
          </a:xfrm>
          <a:prstGeom prst="rect">
            <a:avLst/>
          </a:prstGeom>
          <a:solidFill>
            <a:srgbClr val="F0E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04088" y="4901183"/>
            <a:ext cx="2980944" cy="3749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71717"/>
                </a:solidFill>
                <a:latin typeface="NType82"/>
              </a:defRPr>
            </a:pPr>
            <a:r>
              <a:t>EMPLEADO → EMPLEADO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794760" y="4828032"/>
            <a:ext cx="1828800" cy="448056"/>
          </a:xfrm>
          <a:prstGeom prst="rect">
            <a:avLst/>
          </a:prstGeom>
          <a:solidFill>
            <a:srgbClr val="F0E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904488" y="4901183"/>
            <a:ext cx="1609344" cy="3749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71717"/>
                </a:solidFill>
                <a:latin typeface="NType82"/>
              </a:defRPr>
            </a:pPr>
            <a:r>
              <a:t>Jefe opcional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23560" y="4828032"/>
            <a:ext cx="5943600" cy="448056"/>
          </a:xfrm>
          <a:prstGeom prst="rect">
            <a:avLst/>
          </a:prstGeom>
          <a:solidFill>
            <a:srgbClr val="F0E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733288" y="4901183"/>
            <a:ext cx="5724144" cy="3749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71717"/>
                </a:solidFill>
                <a:latin typeface="NType82"/>
              </a:defRPr>
            </a:pPr>
            <a:r>
              <a:t>Jefatura mediante una FK a la misma tabla.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94360" y="5294376"/>
            <a:ext cx="3200400" cy="448056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04088" y="5367527"/>
            <a:ext cx="2980944" cy="3749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71717"/>
                </a:solidFill>
                <a:latin typeface="NType82"/>
              </a:defRPr>
            </a:pPr>
            <a:r>
              <a:t>CLIENTE → AUDITORIA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794760" y="5294376"/>
            <a:ext cx="1828800" cy="448056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904488" y="5367527"/>
            <a:ext cx="1609344" cy="3749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71717"/>
                </a:solidFill>
                <a:latin typeface="NType82"/>
              </a:defRPr>
            </a:pPr>
            <a:r>
              <a:t>Por eventos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623560" y="5294376"/>
            <a:ext cx="5943600" cy="448056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733288" y="5367527"/>
            <a:ext cx="5724144" cy="3749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71717"/>
                </a:solidFill>
                <a:latin typeface="NType82"/>
              </a:defRPr>
            </a:pPr>
            <a:r>
              <a:t>Código histórico sin FK; instantáneas en JSON.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94360" y="58978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666666"/>
                </a:solidFill>
                <a:latin typeface="NType82"/>
              </a:defRPr>
            </a:pPr>
            <a:r>
              <a:t>El DUI de quien realiza un movimiento es un dato del evento: puede ser distinto del titular.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300">
                <a:solidFill>
                  <a:srgbClr val="171717"/>
                </a:solidFill>
                <a:latin typeface="Ndot77"/>
              </a:defRPr>
            </a:pPr>
            <a:r>
              <a:t>FonaVitSV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29800" y="36576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666666"/>
                </a:solidFill>
                <a:latin typeface="Space Mono"/>
              </a:defRPr>
            </a:pPr>
            <a:r>
              <a:t>05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1097280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3400">
                <a:solidFill>
                  <a:srgbClr val="171717"/>
                </a:solidFill>
                <a:latin typeface="NType82 Headline"/>
              </a:defRPr>
            </a:pPr>
            <a:r>
              <a:t>Normalización e integridad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874519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FF8137"/>
                </a:solidFill>
                <a:latin typeface="Space Mono"/>
              </a:defRPr>
            </a:pPr>
            <a:r>
              <a:t>EVITAR DUPLICACIÓN Y ESTADOS INCONSISTENTES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37376"/>
            <a:ext cx="10972800" cy="13716"/>
          </a:xfrm>
          <a:prstGeom prst="rect">
            <a:avLst/>
          </a:prstGeom>
          <a:solidFill>
            <a:srgbClr val="171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519672"/>
            <a:ext cx="100584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900">
                <a:solidFill>
                  <a:srgbClr val="666666"/>
                </a:solidFill>
                <a:latin typeface="Space Mono"/>
              </a:defRPr>
            </a:pPr>
            <a:r>
              <a:t>UDB · ASB404 · Proyecto de Cátedra · Fase II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2487168"/>
            <a:ext cx="73152" cy="384048"/>
          </a:xfrm>
          <a:prstGeom prst="rect">
            <a:avLst/>
          </a:prstGeom>
          <a:solidFill>
            <a:srgbClr val="FF8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2450592"/>
            <a:ext cx="3230879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400">
                <a:solidFill>
                  <a:srgbClr val="171717"/>
                </a:solidFill>
                <a:latin typeface="NType82 Headline"/>
              </a:defRPr>
            </a:pPr>
            <a:r>
              <a:t>1FN · Datos atómicos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246120"/>
            <a:ext cx="3413759" cy="2514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71717"/>
                </a:solidFill>
                <a:latin typeface="NType82"/>
              </a:defRPr>
            </a:pPr>
            <a:r>
              <a:t>Claves primarias y una fila por registro.</a:t>
            </a:r>
          </a:p>
          <a:p>
            <a:pPr>
              <a:spcAft>
                <a:spcPts val="800"/>
              </a:spcAft>
              <a:defRPr sz="2000">
                <a:solidFill>
                  <a:srgbClr val="171717"/>
                </a:solidFill>
                <a:latin typeface="NType82"/>
              </a:defRPr>
            </a:pPr>
            <a:r>
              <a:t>Dirección separada en calle, casa, ciudad y departamento.</a:t>
            </a:r>
          </a:p>
          <a:p>
            <a:pPr>
              <a:spcAft>
                <a:spcPts val="800"/>
              </a:spcAft>
              <a:defRPr sz="2000">
                <a:solidFill>
                  <a:srgbClr val="171717"/>
                </a:solidFill>
                <a:latin typeface="NType82"/>
              </a:defRPr>
            </a:pPr>
            <a:r>
              <a:t>Las cuentas se almacenan en su propia tabla.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73880" y="2487168"/>
            <a:ext cx="73152" cy="384048"/>
          </a:xfrm>
          <a:prstGeom prst="rect">
            <a:avLst/>
          </a:prstGeom>
          <a:solidFill>
            <a:srgbClr val="FF8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56760" y="2450592"/>
            <a:ext cx="3230879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400">
                <a:solidFill>
                  <a:srgbClr val="171717"/>
                </a:solidFill>
                <a:latin typeface="NType82 Headline"/>
              </a:defRPr>
            </a:pPr>
            <a:r>
              <a:t>2FN y 3FN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73880" y="3246120"/>
            <a:ext cx="3413759" cy="2514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71717"/>
                </a:solidFill>
                <a:latin typeface="NType82"/>
              </a:defRPr>
            </a:pPr>
            <a:r>
              <a:t>Atributos dependientes de claves simples.</a:t>
            </a:r>
          </a:p>
          <a:p>
            <a:pPr>
              <a:spcAft>
                <a:spcPts val="800"/>
              </a:spcAft>
              <a:defRPr sz="2000">
                <a:solidFill>
                  <a:srgbClr val="171717"/>
                </a:solidFill>
                <a:latin typeface="NType82"/>
              </a:defRPr>
            </a:pPr>
            <a:r>
              <a:t>Nombre y DUI del cliente se guardan una vez.</a:t>
            </a:r>
          </a:p>
          <a:p>
            <a:pPr>
              <a:spcAft>
                <a:spcPts val="800"/>
              </a:spcAft>
              <a:defRPr sz="2000">
                <a:solidFill>
                  <a:srgbClr val="171717"/>
                </a:solidFill>
                <a:latin typeface="NType82"/>
              </a:defRPr>
            </a:pPr>
            <a:r>
              <a:t>Edad y saldo se calculan; no se mantienen copias desactualizadas.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53399" y="2487168"/>
            <a:ext cx="73152" cy="384048"/>
          </a:xfrm>
          <a:prstGeom prst="rect">
            <a:avLst/>
          </a:prstGeom>
          <a:solidFill>
            <a:srgbClr val="FF8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36279" y="2450592"/>
            <a:ext cx="3230879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400">
                <a:solidFill>
                  <a:srgbClr val="171717"/>
                </a:solidFill>
                <a:latin typeface="NType82 Headline"/>
              </a:defRPr>
            </a:pPr>
            <a:r>
              <a:t>Reglas SQL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53399" y="3246120"/>
            <a:ext cx="3413759" cy="2514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71717"/>
                </a:solidFill>
                <a:latin typeface="NType82"/>
              </a:defRPr>
            </a:pPr>
            <a:r>
              <a:t>DUI único y con formato válido.</a:t>
            </a:r>
          </a:p>
          <a:p>
            <a:pPr>
              <a:spcAft>
                <a:spcPts val="800"/>
              </a:spcAft>
              <a:defRPr sz="2000">
                <a:solidFill>
                  <a:srgbClr val="171717"/>
                </a:solidFill>
                <a:latin typeface="NType82"/>
              </a:defRPr>
            </a:pPr>
            <a:r>
              <a:t>FK para cuentas, empleados y préstamos.</a:t>
            </a:r>
          </a:p>
          <a:p>
            <a:pPr>
              <a:spcAft>
                <a:spcPts val="800"/>
              </a:spcAft>
              <a:defRPr sz="2000">
                <a:solidFill>
                  <a:srgbClr val="171717"/>
                </a:solidFill>
                <a:latin typeface="NType82"/>
              </a:defRPr>
            </a:pPr>
            <a:r>
              <a:t>Monto ≠ 0; sueldo y préstamo &gt; 0; tasa 0–100; plazo 1–360.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852160"/>
            <a:ext cx="109728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666666"/>
                </a:solidFill>
                <a:latin typeface="NType82"/>
              </a:defRPr>
            </a:pPr>
            <a:r>
              <a:t>AUDITORIA conserva instantáneas históricas; no se usa como información operativa del cliente.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300">
                <a:solidFill>
                  <a:srgbClr val="171717"/>
                </a:solidFill>
                <a:latin typeface="Ndot77"/>
              </a:defRPr>
            </a:pPr>
            <a:r>
              <a:t>FonaVitSV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29800" y="36576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666666"/>
                </a:solidFill>
                <a:latin typeface="Space Mono"/>
              </a:defRPr>
            </a:pPr>
            <a:r>
              <a:t>06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1097280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3400">
                <a:solidFill>
                  <a:srgbClr val="171717"/>
                </a:solidFill>
                <a:latin typeface="NType82 Headline"/>
              </a:defRPr>
            </a:pPr>
            <a:r>
              <a:t>Datos iniciales y consultas SQL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874519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FF8137"/>
                </a:solidFill>
                <a:latin typeface="Space Mono"/>
              </a:defRPr>
            </a:pPr>
            <a:r>
              <a:t>PREGUNTAS CONCRETAS PARA LA COOPERATIVA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37376"/>
            <a:ext cx="10972800" cy="13716"/>
          </a:xfrm>
          <a:prstGeom prst="rect">
            <a:avLst/>
          </a:prstGeom>
          <a:solidFill>
            <a:srgbClr val="171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519672"/>
            <a:ext cx="100584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900">
                <a:solidFill>
                  <a:srgbClr val="666666"/>
                </a:solidFill>
                <a:latin typeface="Space Mono"/>
              </a:defRPr>
            </a:pPr>
            <a:r>
              <a:t>UDB · ASB404 · Proyecto de Cátedra · Fase II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2514600"/>
            <a:ext cx="1828800" cy="429768"/>
          </a:xfrm>
          <a:prstGeom prst="rect">
            <a:avLst/>
          </a:prstGeom>
          <a:solidFill>
            <a:srgbClr val="171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04088" y="2606040"/>
            <a:ext cx="160934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  <a:latin typeface="Space Mono"/>
              </a:defRPr>
            </a:pPr>
            <a:r>
              <a:t>CONSULTA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23160" y="2514600"/>
            <a:ext cx="7040880" cy="429768"/>
          </a:xfrm>
          <a:prstGeom prst="rect">
            <a:avLst/>
          </a:prstGeom>
          <a:solidFill>
            <a:srgbClr val="171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532888" y="2606040"/>
            <a:ext cx="682142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  <a:latin typeface="Space Mono"/>
              </a:defRPr>
            </a:pPr>
            <a:r>
              <a:t>PREGUNTA QUE RESUELVE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464040" y="2514600"/>
            <a:ext cx="2103120" cy="429768"/>
          </a:xfrm>
          <a:prstGeom prst="rect">
            <a:avLst/>
          </a:prstGeom>
          <a:solidFill>
            <a:srgbClr val="171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573767" y="2606040"/>
            <a:ext cx="1883663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  <a:latin typeface="Space Mono"/>
              </a:defRPr>
            </a:pPr>
            <a:r>
              <a:t>RESULTADO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2962656"/>
            <a:ext cx="1828800" cy="512063"/>
          </a:xfrm>
          <a:prstGeom prst="rect">
            <a:avLst/>
          </a:prstGeom>
          <a:solidFill>
            <a:srgbClr val="F0E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04088" y="3035808"/>
            <a:ext cx="1609344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71717"/>
                </a:solidFill>
                <a:latin typeface="NType82"/>
              </a:defRPr>
            </a:pPr>
            <a:r>
              <a:t>WHERE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23160" y="2962656"/>
            <a:ext cx="7040880" cy="512063"/>
          </a:xfrm>
          <a:prstGeom prst="rect">
            <a:avLst/>
          </a:prstGeom>
          <a:solidFill>
            <a:srgbClr val="F0E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532888" y="3035808"/>
            <a:ext cx="6821424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71717"/>
                </a:solidFill>
                <a:latin typeface="NType82"/>
              </a:defRPr>
            </a:pPr>
            <a:r>
              <a:t>¿Qué cuentas activas tienen al menos $1,000?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464040" y="2962656"/>
            <a:ext cx="2103120" cy="512063"/>
          </a:xfrm>
          <a:prstGeom prst="rect">
            <a:avLst/>
          </a:prstGeom>
          <a:solidFill>
            <a:srgbClr val="F0E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573767" y="3035808"/>
            <a:ext cx="1883663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71717"/>
                </a:solidFill>
                <a:latin typeface="NType82"/>
              </a:defRPr>
            </a:pPr>
            <a:r>
              <a:t>25 cuentas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3493008"/>
            <a:ext cx="1828800" cy="512063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04088" y="3566160"/>
            <a:ext cx="1609344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71717"/>
                </a:solidFill>
                <a:latin typeface="NType82"/>
              </a:defRPr>
            </a:pPr>
            <a:r>
              <a:t>JOIN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23160" y="3493008"/>
            <a:ext cx="7040880" cy="512063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532888" y="3566160"/>
            <a:ext cx="6821424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71717"/>
                </a:solidFill>
                <a:latin typeface="NType82"/>
              </a:defRPr>
            </a:pPr>
            <a:r>
              <a:t>¿Quién es el titular y qué empleado atendió el movimiento?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464040" y="3493008"/>
            <a:ext cx="2103120" cy="512063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573767" y="3566160"/>
            <a:ext cx="1883663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71717"/>
                </a:solidFill>
                <a:latin typeface="NType82"/>
              </a:defRPr>
            </a:pPr>
            <a:r>
              <a:t>50 movimientos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" y="4023360"/>
            <a:ext cx="1828800" cy="512063"/>
          </a:xfrm>
          <a:prstGeom prst="rect">
            <a:avLst/>
          </a:prstGeom>
          <a:solidFill>
            <a:srgbClr val="F0E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04088" y="4096511"/>
            <a:ext cx="1609344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71717"/>
                </a:solidFill>
                <a:latin typeface="NType82"/>
              </a:defRPr>
            </a:pPr>
            <a:r>
              <a:t>GROUP BY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423160" y="4023360"/>
            <a:ext cx="7040880" cy="512063"/>
          </a:xfrm>
          <a:prstGeom prst="rect">
            <a:avLst/>
          </a:prstGeom>
          <a:solidFill>
            <a:srgbClr val="F0E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532888" y="4096511"/>
            <a:ext cx="6821424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71717"/>
                </a:solidFill>
                <a:latin typeface="NType82"/>
              </a:defRPr>
            </a:pPr>
            <a:r>
              <a:t>¿Cuántas cuentas y cuánto ahorro reúne cada cliente?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464040" y="4023360"/>
            <a:ext cx="2103120" cy="512063"/>
          </a:xfrm>
          <a:prstGeom prst="rect">
            <a:avLst/>
          </a:prstGeom>
          <a:solidFill>
            <a:srgbClr val="F0E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573767" y="4096511"/>
            <a:ext cx="1883663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71717"/>
                </a:solidFill>
                <a:latin typeface="NType82"/>
              </a:defRPr>
            </a:pPr>
            <a:r>
              <a:t>20 clientes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" y="4553712"/>
            <a:ext cx="1828800" cy="512063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04088" y="4626864"/>
            <a:ext cx="1609344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71717"/>
                </a:solidFill>
                <a:latin typeface="NType82"/>
              </a:defRPr>
            </a:pPr>
            <a:r>
              <a:t>HAVING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423160" y="4553712"/>
            <a:ext cx="7040880" cy="512063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532888" y="4626864"/>
            <a:ext cx="6821424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71717"/>
                </a:solidFill>
                <a:latin typeface="NType82"/>
              </a:defRPr>
            </a:pPr>
            <a:r>
              <a:t>¿Qué clientes tienen más de una cuenta?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464040" y="4553712"/>
            <a:ext cx="2103120" cy="512063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573767" y="4626864"/>
            <a:ext cx="1883663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71717"/>
                </a:solidFill>
                <a:latin typeface="NType82"/>
              </a:defRPr>
            </a:pPr>
            <a:r>
              <a:t>5 clientes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4360" y="5084064"/>
            <a:ext cx="1828800" cy="512063"/>
          </a:xfrm>
          <a:prstGeom prst="rect">
            <a:avLst/>
          </a:prstGeom>
          <a:solidFill>
            <a:srgbClr val="F0E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04088" y="5157216"/>
            <a:ext cx="1609344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71717"/>
                </a:solidFill>
                <a:latin typeface="NType82"/>
              </a:defRPr>
            </a:pPr>
            <a:r>
              <a:t>Subconsulta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423160" y="5084064"/>
            <a:ext cx="7040880" cy="512063"/>
          </a:xfrm>
          <a:prstGeom prst="rect">
            <a:avLst/>
          </a:prstGeom>
          <a:solidFill>
            <a:srgbClr val="F0E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532888" y="5157216"/>
            <a:ext cx="6821424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71717"/>
                </a:solidFill>
                <a:latin typeface="NType82"/>
              </a:defRPr>
            </a:pPr>
            <a:r>
              <a:t>¿Qué préstamos superan el promedio de $2,575?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464040" y="5084064"/>
            <a:ext cx="2103120" cy="512063"/>
          </a:xfrm>
          <a:prstGeom prst="rect">
            <a:avLst/>
          </a:prstGeom>
          <a:solidFill>
            <a:srgbClr val="F0E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573767" y="5157216"/>
            <a:ext cx="1883663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71717"/>
                </a:solidFill>
                <a:latin typeface="NType82"/>
              </a:defRPr>
            </a:pPr>
            <a:r>
              <a:t>10 préstamos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4360" y="5715000"/>
            <a:ext cx="10972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FF8137"/>
                </a:solidFill>
                <a:latin typeface="Space Mono"/>
              </a:defRPr>
            </a:pPr>
            <a:r>
              <a:t>SEMILLA  20 empleados · 20 clientes · 25 cuentas · 50 movimientos · 20 préstamos · 20 auditorías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4360" y="608076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666666"/>
                </a:solidFill>
                <a:latin typeface="NType82"/>
              </a:defRPr>
            </a:pPr>
            <a:r>
              <a:t>$55,000 de ahorro conjunto · $51,500 de capital original de préstamos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300">
                <a:solidFill>
                  <a:srgbClr val="171717"/>
                </a:solidFill>
                <a:latin typeface="Ndot77"/>
              </a:defRPr>
            </a:pPr>
            <a:r>
              <a:t>FonaVitSV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29800" y="36576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666666"/>
                </a:solidFill>
                <a:latin typeface="Space Mono"/>
              </a:defRPr>
            </a:pPr>
            <a:r>
              <a:t>07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1097280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3400">
                <a:solidFill>
                  <a:srgbClr val="171717"/>
                </a:solidFill>
                <a:latin typeface="NType82 Headline"/>
              </a:defRPr>
            </a:pPr>
            <a:r>
              <a:t>Tres vistas, información derivada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874519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FF8137"/>
                </a:solidFill>
                <a:latin typeface="Space Mono"/>
              </a:defRPr>
            </a:pPr>
            <a:r>
              <a:t>SALDOS, CARTERA Y EDADES SIN DUPLICAR DATOS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37376"/>
            <a:ext cx="10972800" cy="13716"/>
          </a:xfrm>
          <a:prstGeom prst="rect">
            <a:avLst/>
          </a:prstGeom>
          <a:solidFill>
            <a:srgbClr val="171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519672"/>
            <a:ext cx="100584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900">
                <a:solidFill>
                  <a:srgbClr val="666666"/>
                </a:solidFill>
                <a:latin typeface="Space Mono"/>
              </a:defRPr>
            </a:pPr>
            <a:r>
              <a:t>UDB · ASB404 · Proyecto de Cátedra · Fase II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2487168"/>
            <a:ext cx="73152" cy="384048"/>
          </a:xfrm>
          <a:prstGeom prst="rect">
            <a:avLst/>
          </a:prstGeom>
          <a:solidFill>
            <a:srgbClr val="FF8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2450592"/>
            <a:ext cx="3230879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400">
                <a:solidFill>
                  <a:srgbClr val="171717"/>
                </a:solidFill>
                <a:latin typeface="NType82 Headline"/>
              </a:defRPr>
            </a:pPr>
            <a:r>
              <a:t>Saldos por cuenta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246120"/>
            <a:ext cx="3413759" cy="2514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71717"/>
                </a:solidFill>
                <a:latin typeface="NType82"/>
              </a:defRPr>
            </a:pPr>
            <a:r>
              <a:t>vw_SaldosCuenta</a:t>
            </a:r>
          </a:p>
          <a:p>
            <a:pPr>
              <a:spcAft>
                <a:spcPts val="800"/>
              </a:spcAft>
              <a:defRPr sz="2000">
                <a:solidFill>
                  <a:srgbClr val="171717"/>
                </a:solidFill>
                <a:latin typeface="NType82"/>
              </a:defRPr>
            </a:pPr>
            <a:r>
              <a:t>Une cuenta y titular; suma los movimientos.</a:t>
            </a:r>
          </a:p>
          <a:p>
            <a:pPr>
              <a:spcAft>
                <a:spcPts val="800"/>
              </a:spcAft>
              <a:defRPr sz="2000">
                <a:solidFill>
                  <a:srgbClr val="171717"/>
                </a:solidFill>
                <a:latin typeface="NType82"/>
              </a:defRPr>
            </a:pPr>
            <a:r>
              <a:t>LEFT JOIN mantiene cuentas sin movimientos y COALESCE devuelve saldo cero.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73880" y="2487168"/>
            <a:ext cx="73152" cy="384048"/>
          </a:xfrm>
          <a:prstGeom prst="rect">
            <a:avLst/>
          </a:prstGeom>
          <a:solidFill>
            <a:srgbClr val="FF8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56760" y="2450592"/>
            <a:ext cx="3230879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400">
                <a:solidFill>
                  <a:srgbClr val="171717"/>
                </a:solidFill>
                <a:latin typeface="NType82 Headline"/>
              </a:defRPr>
            </a:pPr>
            <a:r>
              <a:t>Cartera de préstamos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73880" y="3246120"/>
            <a:ext cx="3413759" cy="2514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71717"/>
                </a:solidFill>
                <a:latin typeface="NType82"/>
              </a:defRPr>
            </a:pPr>
            <a:r>
              <a:t>vw_CarteraPrestamos</a:t>
            </a:r>
          </a:p>
          <a:p>
            <a:pPr>
              <a:spcAft>
                <a:spcPts val="800"/>
              </a:spcAft>
              <a:defRPr sz="2000">
                <a:solidFill>
                  <a:srgbClr val="171717"/>
                </a:solidFill>
                <a:latin typeface="NType82"/>
              </a:defRPr>
            </a:pPr>
            <a:r>
              <a:t>Reúne deudor, cuenta, empleado, valor, tasa, plazo y estado.</a:t>
            </a:r>
          </a:p>
          <a:p>
            <a:pPr>
              <a:spcAft>
                <a:spcPts val="800"/>
              </a:spcAft>
              <a:defRPr sz="2000">
                <a:solidFill>
                  <a:srgbClr val="171717"/>
                </a:solidFill>
                <a:latin typeface="NType82"/>
              </a:defRPr>
            </a:pPr>
            <a:r>
              <a:t>Calcula una cuota referencial con interés anual simple.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53399" y="2487168"/>
            <a:ext cx="73152" cy="384048"/>
          </a:xfrm>
          <a:prstGeom prst="rect">
            <a:avLst/>
          </a:prstGeom>
          <a:solidFill>
            <a:srgbClr val="FF8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36279" y="2450592"/>
            <a:ext cx="3230879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400">
                <a:solidFill>
                  <a:srgbClr val="171717"/>
                </a:solidFill>
                <a:latin typeface="NType82 Headline"/>
              </a:defRPr>
            </a:pPr>
            <a:r>
              <a:t>Edad del cliente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53399" y="3246120"/>
            <a:ext cx="3413759" cy="2514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71717"/>
                </a:solidFill>
                <a:latin typeface="NType82"/>
              </a:defRPr>
            </a:pPr>
            <a:r>
              <a:t>vw_ClientesEdad</a:t>
            </a:r>
          </a:p>
          <a:p>
            <a:pPr>
              <a:spcAft>
                <a:spcPts val="800"/>
              </a:spcAft>
              <a:defRPr sz="2000">
                <a:solidFill>
                  <a:srgbClr val="171717"/>
                </a:solidFill>
                <a:latin typeface="NType82"/>
              </a:defRPr>
            </a:pPr>
            <a:r>
              <a:t>Calcula la edad desde la fecha de nacimiento.</a:t>
            </a:r>
          </a:p>
          <a:p>
            <a:pPr>
              <a:spcAft>
                <a:spcPts val="800"/>
              </a:spcAft>
              <a:defRPr sz="2000">
                <a:solidFill>
                  <a:srgbClr val="171717"/>
                </a:solidFill>
                <a:latin typeface="NType82"/>
              </a:defRPr>
            </a:pPr>
            <a:r>
              <a:t>Ajusta el resultado cuando el cumpleaños todavía no ha ocurrido.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852160"/>
            <a:ext cx="109728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666666"/>
                </a:solidFill>
                <a:latin typeface="NType82"/>
              </a:defRPr>
            </a:pPr>
            <a:r>
              <a:t>$1,200 · 12% anual · 12 meses → $144 de interés → cuota referencial de $112.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300">
                <a:solidFill>
                  <a:srgbClr val="171717"/>
                </a:solidFill>
                <a:latin typeface="Ndot77"/>
              </a:defRPr>
            </a:pPr>
            <a:r>
              <a:t>FonaVitSV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29800" y="36576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666666"/>
                </a:solidFill>
                <a:latin typeface="Space Mono"/>
              </a:defRPr>
            </a:pPr>
            <a:r>
              <a:t>08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1097280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3400">
                <a:solidFill>
                  <a:srgbClr val="171717"/>
                </a:solidFill>
                <a:latin typeface="NType82 Headline"/>
              </a:defRPr>
            </a:pPr>
            <a:r>
              <a:t>Auditoría automática de clientes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874519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FF8137"/>
                </a:solidFill>
                <a:latin typeface="Space Mono"/>
              </a:defRPr>
            </a:pPr>
            <a:r>
              <a:t>UN EVENTO POR FILA, DENTRO DE LA MISMA TRANSACCIÓN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37376"/>
            <a:ext cx="10972800" cy="13716"/>
          </a:xfrm>
          <a:prstGeom prst="rect">
            <a:avLst/>
          </a:prstGeom>
          <a:solidFill>
            <a:srgbClr val="171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519672"/>
            <a:ext cx="100584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900">
                <a:solidFill>
                  <a:srgbClr val="666666"/>
                </a:solidFill>
                <a:latin typeface="Space Mono"/>
              </a:defRPr>
            </a:pPr>
            <a:r>
              <a:t>UDB · ASB404 · Proyecto de Cátedra · Fase II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2514600"/>
            <a:ext cx="1828800" cy="429768"/>
          </a:xfrm>
          <a:prstGeom prst="rect">
            <a:avLst/>
          </a:prstGeom>
          <a:solidFill>
            <a:srgbClr val="171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04088" y="2606040"/>
            <a:ext cx="160934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  <a:latin typeface="Space Mono"/>
              </a:defRPr>
            </a:pPr>
            <a:r>
              <a:t>OPERACIÓN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23160" y="2514600"/>
            <a:ext cx="4572000" cy="429768"/>
          </a:xfrm>
          <a:prstGeom prst="rect">
            <a:avLst/>
          </a:prstGeom>
          <a:solidFill>
            <a:srgbClr val="171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532888" y="2606040"/>
            <a:ext cx="435254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  <a:latin typeface="Space Mono"/>
              </a:defRPr>
            </a:pPr>
            <a:r>
              <a:t>VERSIÓN ANTERIOR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95160" y="2514600"/>
            <a:ext cx="4572000" cy="429768"/>
          </a:xfrm>
          <a:prstGeom prst="rect">
            <a:avLst/>
          </a:prstGeom>
          <a:solidFill>
            <a:srgbClr val="171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104888" y="2606040"/>
            <a:ext cx="435254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  <a:latin typeface="Space Mono"/>
              </a:defRPr>
            </a:pPr>
            <a:r>
              <a:t>VERSIÓN NUEVA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2962656"/>
            <a:ext cx="1828800" cy="621792"/>
          </a:xfrm>
          <a:prstGeom prst="rect">
            <a:avLst/>
          </a:prstGeom>
          <a:solidFill>
            <a:srgbClr val="F0E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04088" y="3035808"/>
            <a:ext cx="1609344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71717"/>
                </a:solidFill>
                <a:latin typeface="NType82"/>
              </a:defRPr>
            </a:pPr>
            <a:r>
              <a:t>INSERT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23160" y="2962656"/>
            <a:ext cx="4572000" cy="621792"/>
          </a:xfrm>
          <a:prstGeom prst="rect">
            <a:avLst/>
          </a:prstGeom>
          <a:solidFill>
            <a:srgbClr val="F0E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532888" y="3035808"/>
            <a:ext cx="4352544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71717"/>
                </a:solidFill>
                <a:latin typeface="NType82"/>
              </a:defRPr>
            </a:pPr>
            <a:r>
              <a:t>NULL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2962656"/>
            <a:ext cx="4572000" cy="621792"/>
          </a:xfrm>
          <a:prstGeom prst="rect">
            <a:avLst/>
          </a:prstGeom>
          <a:solidFill>
            <a:srgbClr val="F0E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104888" y="3035808"/>
            <a:ext cx="4352544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71717"/>
                </a:solidFill>
                <a:latin typeface="NType82"/>
              </a:defRPr>
            </a:pPr>
            <a:r>
              <a:t>Registro nuevo en JSON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3602736"/>
            <a:ext cx="1828800" cy="621792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04088" y="3675887"/>
            <a:ext cx="1609344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71717"/>
                </a:solidFill>
                <a:latin typeface="NType82"/>
              </a:defRPr>
            </a:pPr>
            <a:r>
              <a:t>UPDATE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23160" y="3602736"/>
            <a:ext cx="4572000" cy="621792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532888" y="3675887"/>
            <a:ext cx="4352544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71717"/>
                </a:solidFill>
                <a:latin typeface="NType82"/>
              </a:defRPr>
            </a:pPr>
            <a:r>
              <a:t>Registro anterior en JSON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995160" y="3602736"/>
            <a:ext cx="4572000" cy="621792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104888" y="3675887"/>
            <a:ext cx="4352544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71717"/>
                </a:solidFill>
                <a:latin typeface="NType82"/>
              </a:defRPr>
            </a:pPr>
            <a:r>
              <a:t>Registro actualizado en JSON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" y="4242816"/>
            <a:ext cx="1828800" cy="621792"/>
          </a:xfrm>
          <a:prstGeom prst="rect">
            <a:avLst/>
          </a:prstGeom>
          <a:solidFill>
            <a:srgbClr val="F0E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04088" y="4315968"/>
            <a:ext cx="1609344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71717"/>
                </a:solidFill>
                <a:latin typeface="NType82"/>
              </a:defRPr>
            </a:pPr>
            <a:r>
              <a:t>DELETE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423160" y="4242816"/>
            <a:ext cx="4572000" cy="621792"/>
          </a:xfrm>
          <a:prstGeom prst="rect">
            <a:avLst/>
          </a:prstGeom>
          <a:solidFill>
            <a:srgbClr val="F0E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532888" y="4315968"/>
            <a:ext cx="4352544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71717"/>
                </a:solidFill>
                <a:latin typeface="NType82"/>
              </a:defRPr>
            </a:pPr>
            <a:r>
              <a:t>Registro eliminado en JSON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995160" y="4242816"/>
            <a:ext cx="4572000" cy="621792"/>
          </a:xfrm>
          <a:prstGeom prst="rect">
            <a:avLst/>
          </a:prstGeom>
          <a:solidFill>
            <a:srgbClr val="F0E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104888" y="4315968"/>
            <a:ext cx="4352544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71717"/>
                </a:solidFill>
                <a:latin typeface="NType82"/>
              </a:defRPr>
            </a:pPr>
            <a:r>
              <a:t>NULL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" y="5120640"/>
            <a:ext cx="10972800" cy="950976"/>
          </a:xfrm>
          <a:prstGeom prst="rect">
            <a:avLst/>
          </a:prstGeom>
          <a:solidFill>
            <a:srgbClr val="171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22960" y="5285232"/>
            <a:ext cx="10515600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NType82"/>
              </a:defRPr>
            </a:pPr>
            <a:r>
              <a:t>2 clientes × 3 operaciones = 6 eventos verificados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NType82"/>
              </a:defRPr>
            </a:pPr>
            <a:r>
              <a:t>ROLLBACK revierte la prueba y conserva la carga inicial.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300">
                <a:solidFill>
                  <a:srgbClr val="171717"/>
                </a:solidFill>
                <a:latin typeface="Ndot77"/>
              </a:defRPr>
            </a:pPr>
            <a:r>
              <a:t>FonaVitSV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29800" y="36576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666666"/>
                </a:solidFill>
                <a:latin typeface="Space Mono"/>
              </a:defRPr>
            </a:pPr>
            <a:r>
              <a:t>09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1097280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3400">
                <a:solidFill>
                  <a:srgbClr val="171717"/>
                </a:solidFill>
                <a:latin typeface="NType82 Headline"/>
              </a:defRPr>
            </a:pPr>
            <a:r>
              <a:t>Prototipo y recorrido de clientes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874519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FF8137"/>
                </a:solidFill>
                <a:latin typeface="Space Mono"/>
              </a:defRPr>
            </a:pPr>
            <a:r>
              <a:t>NAVEGACIÓN FUNCIONAL CON PERSISTENCIA LOCAL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37376"/>
            <a:ext cx="10972800" cy="13716"/>
          </a:xfrm>
          <a:prstGeom prst="rect">
            <a:avLst/>
          </a:prstGeom>
          <a:solidFill>
            <a:srgbClr val="171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519672"/>
            <a:ext cx="100584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900">
                <a:solidFill>
                  <a:srgbClr val="666666"/>
                </a:solidFill>
                <a:latin typeface="Space Mono"/>
              </a:defRPr>
            </a:pPr>
            <a:r>
              <a:t>UDB · ASB404 · Proyecto de Cátedra · Fase II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2487168"/>
            <a:ext cx="73152" cy="384048"/>
          </a:xfrm>
          <a:prstGeom prst="rect">
            <a:avLst/>
          </a:prstGeom>
          <a:solidFill>
            <a:srgbClr val="FF8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2450592"/>
            <a:ext cx="3230879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400">
                <a:solidFill>
                  <a:srgbClr val="171717"/>
                </a:solidFill>
                <a:latin typeface="NType82 Headline"/>
              </a:defRPr>
            </a:pPr>
            <a:r>
              <a:t>Acceso e inicio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246120"/>
            <a:ext cx="3413759" cy="2514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71717"/>
                </a:solidFill>
                <a:latin typeface="NType82"/>
              </a:defRPr>
            </a:pPr>
            <a:r>
              <a:t>Explorar demostración abre el recorrido.</a:t>
            </a:r>
          </a:p>
          <a:p>
            <a:pPr>
              <a:spcAft>
                <a:spcPts val="800"/>
              </a:spcAft>
              <a:defRPr sz="2000">
                <a:solidFill>
                  <a:srgbClr val="171717"/>
                </a:solidFill>
                <a:latin typeface="NType82"/>
              </a:defRPr>
            </a:pPr>
            <a:r>
              <a:t>El panel muestra clientes, cuentas, ahorro, cartera y movimientos recientes.</a:t>
            </a:r>
          </a:p>
          <a:p>
            <a:pPr>
              <a:spcAft>
                <a:spcPts val="800"/>
              </a:spcAft>
              <a:defRPr sz="2000">
                <a:solidFill>
                  <a:srgbClr val="171717"/>
                </a:solidFill>
                <a:latin typeface="NType82"/>
              </a:defRPr>
            </a:pPr>
            <a:r>
              <a:t>Navegación adaptable a escritorio y móvil.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73880" y="2487168"/>
            <a:ext cx="73152" cy="384048"/>
          </a:xfrm>
          <a:prstGeom prst="rect">
            <a:avLst/>
          </a:prstGeom>
          <a:solidFill>
            <a:srgbClr val="FF8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56760" y="2450592"/>
            <a:ext cx="3230879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400">
                <a:solidFill>
                  <a:srgbClr val="171717"/>
                </a:solidFill>
                <a:latin typeface="NType82 Headline"/>
              </a:defRPr>
            </a:pPr>
            <a:r>
              <a:t>Clientes y cuentas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73880" y="3246120"/>
            <a:ext cx="3413759" cy="2514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71717"/>
                </a:solidFill>
                <a:latin typeface="NType82"/>
              </a:defRPr>
            </a:pPr>
            <a:r>
              <a:t>Registrar cliente crea un código y su primera cuenta con saldo cero.</a:t>
            </a:r>
          </a:p>
          <a:p>
            <a:pPr>
              <a:spcAft>
                <a:spcPts val="800"/>
              </a:spcAft>
              <a:defRPr sz="2000">
                <a:solidFill>
                  <a:srgbClr val="171717"/>
                </a:solidFill>
                <a:latin typeface="NType82"/>
              </a:defRPr>
            </a:pPr>
            <a:r>
              <a:t>El perfil permite editar datos y abrir otra cuenta sin duplicar al titular.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53399" y="2487168"/>
            <a:ext cx="73152" cy="384048"/>
          </a:xfrm>
          <a:prstGeom prst="rect">
            <a:avLst/>
          </a:prstGeom>
          <a:solidFill>
            <a:srgbClr val="FF8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36279" y="2450592"/>
            <a:ext cx="3230879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400">
                <a:solidFill>
                  <a:srgbClr val="171717"/>
                </a:solidFill>
                <a:latin typeface="NType82 Headline"/>
              </a:defRPr>
            </a:pPr>
            <a:r>
              <a:t>Validaciones y uso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53399" y="3246120"/>
            <a:ext cx="3413759" cy="2514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71717"/>
                </a:solidFill>
                <a:latin typeface="NType82"/>
              </a:defRPr>
            </a:pPr>
            <a:r>
              <a:t>DUI con formato válido y sin duplicados; nacimiento no futuro.</a:t>
            </a:r>
          </a:p>
          <a:p>
            <a:pPr>
              <a:spcAft>
                <a:spcPts val="800"/>
              </a:spcAft>
              <a:defRPr sz="2000">
                <a:solidFill>
                  <a:srgbClr val="171717"/>
                </a:solidFill>
                <a:latin typeface="NType82"/>
              </a:defRPr>
            </a:pPr>
            <a:r>
              <a:t>Búsqueda, foco de teclado visible y errores comprensibles.</a:t>
            </a:r>
          </a:p>
          <a:p>
            <a:pPr>
              <a:spcAft>
                <a:spcPts val="800"/>
              </a:spcAft>
              <a:defRPr sz="2000">
                <a:solidFill>
                  <a:srgbClr val="171717"/>
                </a:solidFill>
                <a:latin typeface="NType82"/>
              </a:defRPr>
            </a:pPr>
            <a:r>
              <a:t>Ayuda permite restablecer la semilla.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852160"/>
            <a:ext cx="109728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666666"/>
                </a:solidFill>
                <a:latin typeface="NType82"/>
              </a:defRPr>
            </a:pPr>
            <a:r>
              <a:t>Los cambios se guardan en el navegador y no se sincronizan con SQL Server.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300">
                <a:solidFill>
                  <a:srgbClr val="171717"/>
                </a:solidFill>
                <a:latin typeface="Ndot77"/>
              </a:defRPr>
            </a:pPr>
            <a:r>
              <a:t>FonaVitSV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29800" y="36576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666666"/>
                </a:solidFill>
                <a:latin typeface="Space Mono"/>
              </a:defRPr>
            </a:pPr>
            <a:r>
              <a:t>10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1097280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3400">
                <a:solidFill>
                  <a:srgbClr val="171717"/>
                </a:solidFill>
                <a:latin typeface="NType82 Headline"/>
              </a:defRPr>
            </a:pPr>
            <a:r>
              <a:t>Movimientos, préstamos y empleados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874519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FF8137"/>
                </a:solidFill>
                <a:latin typeface="Space Mono"/>
              </a:defRPr>
            </a:pPr>
            <a:r>
              <a:t>QUÉ PUEDE DEMOSTRARSE DURANTE LA DEFENSA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37376"/>
            <a:ext cx="10972800" cy="13716"/>
          </a:xfrm>
          <a:prstGeom prst="rect">
            <a:avLst/>
          </a:prstGeom>
          <a:solidFill>
            <a:srgbClr val="171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519672"/>
            <a:ext cx="100584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900">
                <a:solidFill>
                  <a:srgbClr val="666666"/>
                </a:solidFill>
                <a:latin typeface="Space Mono"/>
              </a:defRPr>
            </a:pPr>
            <a:r>
              <a:t>UDB · ASB404 · Proyecto de Cátedra · Fase II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2487168"/>
            <a:ext cx="73152" cy="384048"/>
          </a:xfrm>
          <a:prstGeom prst="rect">
            <a:avLst/>
          </a:prstGeom>
          <a:solidFill>
            <a:srgbClr val="FF8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2450592"/>
            <a:ext cx="3230879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400">
                <a:solidFill>
                  <a:srgbClr val="171717"/>
                </a:solidFill>
                <a:latin typeface="NType82 Headline"/>
              </a:defRPr>
            </a:pPr>
            <a:r>
              <a:t>Transacciones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246120"/>
            <a:ext cx="3413759" cy="2514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71717"/>
                </a:solidFill>
                <a:latin typeface="NType82"/>
              </a:defRPr>
            </a:pPr>
            <a:r>
              <a:t>Depósitos positivos y retiros negativos.</a:t>
            </a:r>
          </a:p>
          <a:p>
            <a:pPr>
              <a:spcAft>
                <a:spcPts val="800"/>
              </a:spcAft>
              <a:defRPr sz="2000">
                <a:solidFill>
                  <a:srgbClr val="171717"/>
                </a:solidFill>
                <a:latin typeface="NType82"/>
              </a:defRPr>
            </a:pPr>
            <a:r>
              <a:t>Validación de saldo y fecha; historial con búsqueda y exportación CSV.</a:t>
            </a:r>
          </a:p>
          <a:p>
            <a:pPr>
              <a:spcAft>
                <a:spcPts val="800"/>
              </a:spcAft>
              <a:defRPr sz="2000">
                <a:solidFill>
                  <a:srgbClr val="171717"/>
                </a:solidFill>
                <a:latin typeface="NType82"/>
              </a:defRPr>
            </a:pPr>
            <a:r>
              <a:t>Prueba: +$250 − $50 = $200; retiro de $300 rechazado.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73880" y="2487168"/>
            <a:ext cx="73152" cy="384048"/>
          </a:xfrm>
          <a:prstGeom prst="rect">
            <a:avLst/>
          </a:prstGeom>
          <a:solidFill>
            <a:srgbClr val="FF8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56760" y="2450592"/>
            <a:ext cx="3230879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400">
                <a:solidFill>
                  <a:srgbClr val="171717"/>
                </a:solidFill>
                <a:latin typeface="NType82 Headline"/>
              </a:defRPr>
            </a:pPr>
            <a:r>
              <a:t>Préstamos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73880" y="3246120"/>
            <a:ext cx="3413759" cy="2514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71717"/>
                </a:solidFill>
                <a:latin typeface="NType82"/>
              </a:defRPr>
            </a:pPr>
            <a:r>
              <a:t>Cuenta previa, empleado, valor, fecha, tasa y plazo.</a:t>
            </a:r>
          </a:p>
          <a:p>
            <a:pPr>
              <a:spcAft>
                <a:spcPts val="800"/>
              </a:spcAft>
              <a:defRPr sz="2000">
                <a:solidFill>
                  <a:srgbClr val="171717"/>
                </a:solidFill>
                <a:latin typeface="NType82"/>
              </a:defRPr>
            </a:pPr>
            <a:r>
              <a:t>Cuota referencial; filtros Al día, Atrasado y Pagado.</a:t>
            </a:r>
          </a:p>
          <a:p>
            <a:pPr>
              <a:spcAft>
                <a:spcPts val="800"/>
              </a:spcAft>
              <a:defRPr sz="2000">
                <a:solidFill>
                  <a:srgbClr val="171717"/>
                </a:solidFill>
                <a:latin typeface="NType82"/>
              </a:defRPr>
            </a:pPr>
            <a:r>
              <a:t>El registro no crea un desembolso contable automático.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53399" y="2487168"/>
            <a:ext cx="73152" cy="384048"/>
          </a:xfrm>
          <a:prstGeom prst="rect">
            <a:avLst/>
          </a:prstGeom>
          <a:solidFill>
            <a:srgbClr val="FF8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36279" y="2450592"/>
            <a:ext cx="3230879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400">
                <a:solidFill>
                  <a:srgbClr val="171717"/>
                </a:solidFill>
                <a:latin typeface="NType82 Headline"/>
              </a:defRPr>
            </a:pPr>
            <a:r>
              <a:t>Empleados y auditoría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53399" y="3246120"/>
            <a:ext cx="3413759" cy="2514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71717"/>
                </a:solidFill>
                <a:latin typeface="NType82"/>
              </a:defRPr>
            </a:pPr>
            <a:r>
              <a:t>Registro de puesto, sueldo y jefe inmediato.</a:t>
            </a:r>
          </a:p>
          <a:p>
            <a:pPr>
              <a:spcAft>
                <a:spcPts val="800"/>
              </a:spcAft>
              <a:defRPr sz="2000">
                <a:solidFill>
                  <a:srgbClr val="171717"/>
                </a:solidFill>
                <a:latin typeface="NType82"/>
              </a:defRPr>
            </a:pPr>
            <a:r>
              <a:t>Se impiden duplicados y ciclos de jefatura en el sitio.</a:t>
            </a:r>
          </a:p>
          <a:p>
            <a:pPr>
              <a:spcAft>
                <a:spcPts val="800"/>
              </a:spcAft>
              <a:defRPr sz="2000">
                <a:solidFill>
                  <a:srgbClr val="171717"/>
                </a:solidFill>
                <a:latin typeface="NType82"/>
              </a:defRPr>
            </a:pPr>
            <a:r>
              <a:t>Auditoría local permite comparar antes y después.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852160"/>
            <a:ext cx="109728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666666"/>
                </a:solidFill>
                <a:latin typeface="NType82"/>
              </a:defRPr>
            </a:pPr>
            <a:r>
              <a:t>La auditoría del navegador y la tabla AUDITORIA de SQL son independientes.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300">
                <a:solidFill>
                  <a:srgbClr val="171717"/>
                </a:solidFill>
                <a:latin typeface="Ndot77"/>
              </a:defRPr>
            </a:pPr>
            <a:r>
              <a:t>FonaVitSV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29800" y="36576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666666"/>
                </a:solidFill>
                <a:latin typeface="Space Mono"/>
              </a:defRPr>
            </a:pPr>
            <a:r>
              <a:t>11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1097280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3400">
                <a:solidFill>
                  <a:srgbClr val="171717"/>
                </a:solidFill>
                <a:latin typeface="NType82 Headline"/>
              </a:defRPr>
            </a:pPr>
            <a:r>
              <a:t>Pruebas y evidencias reportadas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874519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FF8137"/>
                </a:solidFill>
                <a:latin typeface="Space Mono"/>
              </a:defRPr>
            </a:pPr>
            <a:r>
              <a:t>VERIFICACIÓN TÉCNICA REPRODUCIBLE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37376"/>
            <a:ext cx="10972800" cy="13716"/>
          </a:xfrm>
          <a:prstGeom prst="rect">
            <a:avLst/>
          </a:prstGeom>
          <a:solidFill>
            <a:srgbClr val="171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519672"/>
            <a:ext cx="100584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900">
                <a:solidFill>
                  <a:srgbClr val="666666"/>
                </a:solidFill>
                <a:latin typeface="Space Mono"/>
              </a:defRPr>
            </a:pPr>
            <a:r>
              <a:t>UDB · ASB404 · Proyecto de Cátedra · Fase II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2514600"/>
            <a:ext cx="1920240" cy="429768"/>
          </a:xfrm>
          <a:prstGeom prst="rect">
            <a:avLst/>
          </a:prstGeom>
          <a:solidFill>
            <a:srgbClr val="171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04088" y="2606040"/>
            <a:ext cx="170078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  <a:latin typeface="Space Mono"/>
              </a:defRPr>
            </a:pPr>
            <a:r>
              <a:t>ÁREA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14600" y="2514600"/>
            <a:ext cx="6995160" cy="429768"/>
          </a:xfrm>
          <a:prstGeom prst="rect">
            <a:avLst/>
          </a:prstGeom>
          <a:solidFill>
            <a:srgbClr val="171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624328" y="2606040"/>
            <a:ext cx="677570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  <a:latin typeface="Space Mono"/>
              </a:defRPr>
            </a:pPr>
            <a:r>
              <a:t>EVIDENCIA O COMPROBACIÓN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509760" y="2514600"/>
            <a:ext cx="2057400" cy="429768"/>
          </a:xfrm>
          <a:prstGeom prst="rect">
            <a:avLst/>
          </a:prstGeom>
          <a:solidFill>
            <a:srgbClr val="171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19488" y="2606040"/>
            <a:ext cx="1837943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  <a:latin typeface="Space Mono"/>
              </a:defRPr>
            </a:pPr>
            <a:r>
              <a:t>RESULTADO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2962656"/>
            <a:ext cx="1920240" cy="530352"/>
          </a:xfrm>
          <a:prstGeom prst="rect">
            <a:avLst/>
          </a:prstGeom>
          <a:solidFill>
            <a:srgbClr val="F0E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04088" y="3035808"/>
            <a:ext cx="1700784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71717"/>
                </a:solidFill>
                <a:latin typeface="NType82"/>
              </a:defRPr>
            </a:pPr>
            <a:r>
              <a:t>Base SQL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14600" y="2962656"/>
            <a:ext cx="6995160" cy="530352"/>
          </a:xfrm>
          <a:prstGeom prst="rect">
            <a:avLst/>
          </a:prstGeom>
          <a:solidFill>
            <a:srgbClr val="F0E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624328" y="3035808"/>
            <a:ext cx="6775704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71717"/>
                </a:solidFill>
                <a:latin typeface="NType82"/>
              </a:defRPr>
            </a:pPr>
            <a:r>
              <a:t>Conteos mínimos; vistas; DBCC CHECKCONSTRAINTS.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509760" y="2962656"/>
            <a:ext cx="2057400" cy="530352"/>
          </a:xfrm>
          <a:prstGeom prst="rect">
            <a:avLst/>
          </a:prstGeom>
          <a:solidFill>
            <a:srgbClr val="F0E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19488" y="3035808"/>
            <a:ext cx="1837943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71717"/>
                </a:solidFill>
                <a:latin typeface="NType82"/>
              </a:defRPr>
            </a:pPr>
            <a:r>
              <a:t>Correcto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3511296"/>
            <a:ext cx="1920240" cy="530352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04088" y="3584448"/>
            <a:ext cx="1700784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71717"/>
                </a:solidFill>
                <a:latin typeface="NType82"/>
              </a:defRPr>
            </a:pPr>
            <a:r>
              <a:t>Auditoría SQL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14600" y="3511296"/>
            <a:ext cx="6995160" cy="530352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624328" y="3584448"/>
            <a:ext cx="6775704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71717"/>
                </a:solidFill>
                <a:latin typeface="NType82"/>
              </a:defRPr>
            </a:pPr>
            <a:r>
              <a:t>2 INSERT + 2 UPDATE + 2 DELETE; ROLLBACK.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509760" y="3511296"/>
            <a:ext cx="2057400" cy="530352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619488" y="3584448"/>
            <a:ext cx="1837943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71717"/>
                </a:solidFill>
                <a:latin typeface="NType82"/>
              </a:defRPr>
            </a:pPr>
            <a:r>
              <a:t>6 eventos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" y="4059936"/>
            <a:ext cx="1920240" cy="530352"/>
          </a:xfrm>
          <a:prstGeom prst="rect">
            <a:avLst/>
          </a:prstGeom>
          <a:solidFill>
            <a:srgbClr val="F0E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04088" y="4133087"/>
            <a:ext cx="1700784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71717"/>
                </a:solidFill>
                <a:latin typeface="NType82"/>
              </a:defRPr>
            </a:pPr>
            <a:r>
              <a:t>Integridad SQL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14600" y="4059936"/>
            <a:ext cx="6995160" cy="530352"/>
          </a:xfrm>
          <a:prstGeom prst="rect">
            <a:avLst/>
          </a:prstGeom>
          <a:solidFill>
            <a:srgbClr val="F0E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624328" y="4133087"/>
            <a:ext cx="6775704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71717"/>
                </a:solidFill>
                <a:latin typeface="NType82"/>
              </a:defRPr>
            </a:pPr>
            <a:r>
              <a:t>FK inválidas, DUI duplicado, monto cero y borrado con cuentas.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09760" y="4059936"/>
            <a:ext cx="2057400" cy="530352"/>
          </a:xfrm>
          <a:prstGeom prst="rect">
            <a:avLst/>
          </a:prstGeom>
          <a:solidFill>
            <a:srgbClr val="F0E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619488" y="4133087"/>
            <a:ext cx="1837943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71717"/>
                </a:solidFill>
                <a:latin typeface="NType82"/>
              </a:defRPr>
            </a:pPr>
            <a:r>
              <a:t>Rechazados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" y="4608576"/>
            <a:ext cx="1920240" cy="530352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04088" y="4681727"/>
            <a:ext cx="1700784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71717"/>
                </a:solidFill>
                <a:latin typeface="NType82"/>
              </a:defRPr>
            </a:pPr>
            <a:r>
              <a:t>Prototipo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14600" y="4608576"/>
            <a:ext cx="6995160" cy="530352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624328" y="4681727"/>
            <a:ext cx="6775704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71717"/>
                </a:solidFill>
                <a:latin typeface="NType82"/>
              </a:defRPr>
            </a:pPr>
            <a:r>
              <a:t>Acceso, registro, cuentas, movimientos, cartera y empleados.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509760" y="4608576"/>
            <a:ext cx="2057400" cy="530352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619488" y="4681727"/>
            <a:ext cx="1837943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71717"/>
                </a:solidFill>
                <a:latin typeface="NType82"/>
              </a:defRPr>
            </a:pPr>
            <a:r>
              <a:t>21 checks OK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4360" y="5157216"/>
            <a:ext cx="1920240" cy="530352"/>
          </a:xfrm>
          <a:prstGeom prst="rect">
            <a:avLst/>
          </a:prstGeom>
          <a:solidFill>
            <a:srgbClr val="F0E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04088" y="5230368"/>
            <a:ext cx="1700784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71717"/>
                </a:solidFill>
                <a:latin typeface="NType82"/>
              </a:defRPr>
            </a:pPr>
            <a:r>
              <a:t>Persistencia y móvil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514600" y="5157216"/>
            <a:ext cx="6995160" cy="530352"/>
          </a:xfrm>
          <a:prstGeom prst="rect">
            <a:avLst/>
          </a:prstGeom>
          <a:solidFill>
            <a:srgbClr val="F0E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624328" y="5230368"/>
            <a:ext cx="6775704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71717"/>
                </a:solidFill>
                <a:latin typeface="NType82"/>
              </a:defRPr>
            </a:pPr>
            <a:r>
              <a:t>Recarga, historial, restablecimiento y ancho de 390 px.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509760" y="5157216"/>
            <a:ext cx="2057400" cy="530352"/>
          </a:xfrm>
          <a:prstGeom prst="rect">
            <a:avLst/>
          </a:prstGeom>
          <a:solidFill>
            <a:srgbClr val="F0E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619488" y="5230368"/>
            <a:ext cx="1837943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71717"/>
                </a:solidFill>
                <a:latin typeface="NType82"/>
              </a:defRPr>
            </a:pPr>
            <a:r>
              <a:t>Correcto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4360" y="571500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666666"/>
                </a:solidFill>
                <a:latin typeface="Space Mono"/>
              </a:defRPr>
            </a:pPr>
            <a:r>
              <a:t>Evidencias: salidas sqlcmd, capturas y 03_pruebas_prototipo.json.</a:t>
            </a:r>
          </a:p>
          <a:p>
            <a:pPr>
              <a:spcAft>
                <a:spcPts val="800"/>
              </a:spcAft>
              <a:defRPr sz="1200">
                <a:solidFill>
                  <a:srgbClr val="666666"/>
                </a:solidFill>
                <a:latin typeface="Space Mono"/>
              </a:defRPr>
            </a:pPr>
            <a:r>
              <a:t>Repetición: SQL/05_pruebas.sql · SQL/06_integridad.sql · Pruebas/prototipo.cjs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300">
                <a:solidFill>
                  <a:srgbClr val="171717"/>
                </a:solidFill>
                <a:latin typeface="Ndot77"/>
              </a:defRPr>
            </a:pPr>
            <a:r>
              <a:t>FonaVitSV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29800" y="36576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666666"/>
                </a:solidFill>
                <a:latin typeface="Space Mono"/>
              </a:defRPr>
            </a:pPr>
            <a:r>
              <a:t>12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1097280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3400">
                <a:solidFill>
                  <a:srgbClr val="171717"/>
                </a:solidFill>
                <a:latin typeface="NType82 Headline"/>
              </a:defRPr>
            </a:pPr>
            <a:r>
              <a:t>Conclusiones y siguiente etapa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874519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FF8137"/>
                </a:solidFill>
                <a:latin typeface="Space Mono"/>
              </a:defRPr>
            </a:pPr>
            <a:r>
              <a:t>LO DEMOSTRADO Y LO QUE FALTA PARA PRODUCCIÓN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37376"/>
            <a:ext cx="10972800" cy="13716"/>
          </a:xfrm>
          <a:prstGeom prst="rect">
            <a:avLst/>
          </a:prstGeom>
          <a:solidFill>
            <a:srgbClr val="171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519672"/>
            <a:ext cx="100584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900">
                <a:solidFill>
                  <a:srgbClr val="666666"/>
                </a:solidFill>
                <a:latin typeface="Space Mono"/>
              </a:defRPr>
            </a:pPr>
            <a:r>
              <a:t>UDB · ASB404 · Proyecto de Cátedra · Fase II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2487168"/>
            <a:ext cx="73152" cy="384048"/>
          </a:xfrm>
          <a:prstGeom prst="rect">
            <a:avLst/>
          </a:prstGeom>
          <a:solidFill>
            <a:srgbClr val="FF8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2450592"/>
            <a:ext cx="3230879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400">
                <a:solidFill>
                  <a:srgbClr val="171717"/>
                </a:solidFill>
                <a:latin typeface="NType82 Headline"/>
              </a:defRPr>
            </a:pPr>
            <a:r>
              <a:t>Lo demostrado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246120"/>
            <a:ext cx="3413759" cy="2514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71717"/>
                </a:solidFill>
                <a:latin typeface="NType82"/>
              </a:defRPr>
            </a:pPr>
            <a:r>
              <a:t>Varias cuentas por cliente y relaciones válidas.</a:t>
            </a:r>
          </a:p>
          <a:p>
            <a:pPr>
              <a:spcAft>
                <a:spcPts val="800"/>
              </a:spcAft>
              <a:defRPr sz="2000">
                <a:solidFill>
                  <a:srgbClr val="171717"/>
                </a:solidFill>
                <a:latin typeface="NType82"/>
              </a:defRPr>
            </a:pPr>
            <a:r>
              <a:t>Edad y saldo derivados; consultas útiles y auditoría multirregistro.</a:t>
            </a:r>
          </a:p>
          <a:p>
            <a:pPr>
              <a:spcAft>
                <a:spcPts val="800"/>
              </a:spcAft>
              <a:defRPr sz="2000">
                <a:solidFill>
                  <a:srgbClr val="171717"/>
                </a:solidFill>
                <a:latin typeface="NType82"/>
              </a:defRPr>
            </a:pPr>
            <a:r>
              <a:t>Recorridos funcionales con evidencia técnica.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73880" y="2487168"/>
            <a:ext cx="73152" cy="384048"/>
          </a:xfrm>
          <a:prstGeom prst="rect">
            <a:avLst/>
          </a:prstGeom>
          <a:solidFill>
            <a:srgbClr val="FF8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56760" y="2450592"/>
            <a:ext cx="3230879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400">
                <a:solidFill>
                  <a:srgbClr val="171717"/>
                </a:solidFill>
                <a:latin typeface="NType82 Headline"/>
              </a:defRPr>
            </a:pPr>
            <a:r>
              <a:t>Límites actuales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73880" y="3246120"/>
            <a:ext cx="3413759" cy="2514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71717"/>
                </a:solidFill>
                <a:latin typeface="NType82"/>
              </a:defRPr>
            </a:pPr>
            <a:r>
              <a:t>Sin servidor, usuarios reales, permisos ni sincronización.</a:t>
            </a:r>
          </a:p>
          <a:p>
            <a:pPr>
              <a:spcAft>
                <a:spcPts val="800"/>
              </a:spcAft>
              <a:defRPr sz="2000">
                <a:solidFill>
                  <a:srgbClr val="171717"/>
                </a:solidFill>
                <a:latin typeface="NType82"/>
              </a:defRPr>
            </a:pPr>
            <a:r>
              <a:t>Saldo validado solo en el prototipo; sin concurrencia SQL.</a:t>
            </a:r>
          </a:p>
          <a:p>
            <a:pPr>
              <a:spcAft>
                <a:spcPts val="800"/>
              </a:spcAft>
              <a:defRPr sz="2000">
                <a:solidFill>
                  <a:srgbClr val="171717"/>
                </a:solidFill>
                <a:latin typeface="NType82"/>
              </a:defRPr>
            </a:pPr>
            <a:r>
              <a:t>Auditoría SQL solo de CLIENTE; préstamo simplificado.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53399" y="2487168"/>
            <a:ext cx="73152" cy="384048"/>
          </a:xfrm>
          <a:prstGeom prst="rect">
            <a:avLst/>
          </a:prstGeom>
          <a:solidFill>
            <a:srgbClr val="FF8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36279" y="2450592"/>
            <a:ext cx="3230879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400">
                <a:solidFill>
                  <a:srgbClr val="171717"/>
                </a:solidFill>
                <a:latin typeface="NType82 Headline"/>
              </a:defRPr>
            </a:pPr>
            <a:r>
              <a:t>Siguiente etapa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53399" y="3246120"/>
            <a:ext cx="3413759" cy="2514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71717"/>
                </a:solidFill>
                <a:latin typeface="NType82"/>
              </a:defRPr>
            </a:pPr>
            <a:r>
              <a:t>Conectar interfaz y base mediante un servidor.</a:t>
            </a:r>
          </a:p>
          <a:p>
            <a:pPr>
              <a:spcAft>
                <a:spcPts val="800"/>
              </a:spcAft>
              <a:defRPr sz="2000">
                <a:solidFill>
                  <a:srgbClr val="171717"/>
                </a:solidFill>
                <a:latin typeface="NType82"/>
              </a:defRPr>
            </a:pPr>
            <a:r>
              <a:t>Incorporar autenticación, autorización y respaldos.</a:t>
            </a:r>
          </a:p>
          <a:p>
            <a:pPr>
              <a:spcAft>
                <a:spcPts val="800"/>
              </a:spcAft>
              <a:defRPr sz="2000">
                <a:solidFill>
                  <a:srgbClr val="171717"/>
                </a:solidFill>
                <a:latin typeface="NType82"/>
              </a:defRPr>
            </a:pPr>
            <a:r>
              <a:t>Implementar movimientos atómicos, desembolsos y calendario de pagos.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852160"/>
            <a:ext cx="109728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666666"/>
                </a:solidFill>
                <a:latin typeface="NType82"/>
              </a:defRPr>
            </a:pPr>
            <a:r>
              <a:t>Base documental: guía UDB y Fase I · Microsoft Learn · Google Design / Material Design 3.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2838</Words>
  <Application>Microsoft Office PowerPoint</Application>
  <PresentationFormat>Widescreen</PresentationFormat>
  <Paragraphs>276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NType 82 Headline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Caleb Ortiz</cp:lastModifiedBy>
  <cp:revision>2</cp:revision>
  <dcterms:created xsi:type="dcterms:W3CDTF">2013-01-27T09:14:16Z</dcterms:created>
  <dcterms:modified xsi:type="dcterms:W3CDTF">2026-10-14T16:52:18Z</dcterms:modified>
  <cp:category/>
</cp:coreProperties>
</file>