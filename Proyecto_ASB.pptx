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C46F5D13-37AD-FF88-0E6A-609466DE22D9}">
          <p14:sldIdLst/>
        </p14:section>
        <p14:section name="Parte 1" id="{36914A72-B075-FB84-D58A-7979079D32EE}">
          <p14:sldIdLst>
            <p14:sldId id="257"/>
            <p14:sldId id="258"/>
          </p14:sldIdLst>
        </p14:section>
        <p14:section name="Parte 2" id="{8139C1CA-B9A0-C1CD-893A-AB45EB52C1E1}">
          <p14:sldIdLst>
            <p14:sldId id="260"/>
          </p14:sldIdLst>
        </p14:section>
        <p14:section name="Parte 3" id="{C856104C-B405-9A8C-2AA9-A5ADB8686E18}">
          <p14:sldIdLst>
            <p14:sldId id="261"/>
          </p14:sldIdLst>
        </p14:section>
        <p14:section name="Parte 4" id="{A3DE5DEE-F337-189B-8E61-1A4C651BD6DB}">
          <p14:sldIdLst>
            <p14:sldId id="262"/>
          </p14:sldIdLst>
        </p14:section>
        <p14:section name="Parte 5" id="{2AC3CA89-6414-D4C4-981F-F878A080E5C2}">
          <p14:sldIdLst>
            <p14:sldId id="263"/>
            <p14:sldId id="264"/>
          </p14:sldIdLst>
        </p14:section>
        <p14:section name="Cierre" id="{98B73099-621C-9885-1517-4937CC9EACF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00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873E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leb-bvm/POO-JSP-Biblioteca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1 · Implementación de la base de datos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niveles de normalización separan clientes, cuentas y movimientos</a:t>
            </a:r>
            <a:endParaRPr lang="en-US" sz="2600" dirty="0"/>
          </a:p>
        </p:txBody>
      </p:sp>
      <p:sp>
        <p:nvSpPr>
          <p:cNvPr id="4" name="Tarjeta Primer nivel"/>
          <p:cNvSpPr/>
          <p:nvPr/>
        </p:nvSpPr>
        <p:spPr>
          <a:xfrm>
            <a:off x="45720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Primer nivel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1FN: cada tabla tiene clave primaria y la dirección se separa en calle, casa, ciudad y departamento.</a:t>
            </a:r>
            <a:endParaRPr lang="en-US" sz="1400" dirty="0"/>
          </a:p>
        </p:txBody>
      </p:sp>
      <p:sp>
        <p:nvSpPr>
          <p:cNvPr id="7" name="Tarjeta Segundo nivel"/>
          <p:cNvSpPr/>
          <p:nvPr/>
        </p:nvSpPr>
        <p:spPr>
          <a:xfrm>
            <a:off x="329184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8" name="Text 6"/>
          <p:cNvSpPr txBox="1"/>
          <p:nvPr/>
        </p:nvSpPr>
        <p:spPr>
          <a:xfrm>
            <a:off x="347472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Segundo nivel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2FN: cada atributo depende de la clave completa. El DUI es del cliente y la fecha de apertura es de la cuenta.</a:t>
            </a:r>
            <a:endParaRPr lang="en-US" sz="1400" dirty="0"/>
          </a:p>
        </p:txBody>
      </p:sp>
      <p:sp>
        <p:nvSpPr>
          <p:cNvPr id="10" name="Tarjeta Tercer nivel"/>
          <p:cNvSpPr/>
          <p:nvPr/>
        </p:nvSpPr>
        <p:spPr>
          <a:xfrm>
            <a:off x="6126480" y="1371600"/>
            <a:ext cx="25603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9"/>
          <p:cNvSpPr txBox="1"/>
          <p:nvPr/>
        </p:nvSpPr>
        <p:spPr>
          <a:xfrm>
            <a:off x="630936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Tercer nivel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1168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3FN: nada se repite ni se guarda si se puede calcular. La edad y el saldo se calculan.</a:t>
            </a:r>
            <a:endParaRPr lang="en-US" sz="1400" dirty="0"/>
          </a:p>
        </p:txBody>
      </p:sp>
      <p:sp>
        <p:nvSpPr>
          <p:cNvPr id="13" name="Hint de normalización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¿Qué es normalizar? </a:t>
            </a:r>
            <a:r>
              <a:rPr lang="en-US" sz="1300" dirty="0">
                <a:solidFill>
                  <a:schemeClr val="tx1"/>
                </a:solidFill>
              </a:rPr>
              <a:t>Ordenar las tablas para que cada dato se guarde una sola vez, en su lugar. Por ejemplo, el nombre del cliente vive en CLIENTE y no se copia en cuentas, préstamos ni transacciones.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1 · Implementación de la base de datos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 clientes y cuentas permite varias cuentas sin repetir datos</a:t>
            </a:r>
            <a:endParaRPr lang="en-US" sz="2600" dirty="0"/>
          </a:p>
        </p:txBody>
      </p:sp>
      <p:pic>
        <p:nvPicPr>
          <p:cNvPr id="4" name="Diagrama de clases con CLIENTE, CUENTA, TRANSACCION, EMPLEADO, PRESTAMO y AUDITORIA" descr="Diagrama de clases con CLIENTE, CUENTA, TRANSACCION, EMPLEADO, PRESTAMO y AUDITORIA"/>
          <p:cNvPicPr>
            <a:picLocks noChangeAspect="1"/>
          </p:cNvPicPr>
          <p:nvPr/>
        </p:nvPicPr>
        <p:blipFill>
          <a:blip r:embed="rId3"/>
          <a:srcRect t="5341"/>
          <a:stretch>
            <a:fillRect/>
          </a:stretch>
        </p:blipFill>
        <p:spPr>
          <a:xfrm>
            <a:off x="457200" y="1371600"/>
            <a:ext cx="3956858" cy="2942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53712"/>
            <a:ext cx="3956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</a:rPr>
              <a:t>Figura 1. Clases, atributos y operaciones del sistema, a nivel conceptual.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cambió en la Fase 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82880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AUDITORIA es nueva y la llena el trigger de CLIENTE.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cliente puede tener varias cuentas, y una cuenta varios préstamos.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 edad y el saldo se calculan en vistas.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Datos iniciales: 20 empleados, 20 clientes, 25 cuentas, 50 movimientos y 20 préstamos.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2 · Creación de consultas SQL y vistas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vistas calculan saldo, cuota y edad sin guardarlos</a:t>
            </a:r>
            <a:endParaRPr lang="en-US" sz="2600" dirty="0"/>
          </a:p>
        </p:txBody>
      </p:sp>
      <p:sp>
        <p:nvSpPr>
          <p:cNvPr id="4" name="Tarjeta vw_SaldosCuenta"/>
          <p:cNvSpPr/>
          <p:nvPr/>
        </p:nvSpPr>
        <p:spPr>
          <a:xfrm>
            <a:off x="457200" y="137160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5" name="Text 3"/>
          <p:cNvSpPr txBox="1"/>
          <p:nvPr/>
        </p:nvSpPr>
        <p:spPr>
          <a:xfrm>
            <a:off x="64008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vw_SaldosCuenta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Muestra cada cuenta con su titular y su saldo. Conserva las cuentas sin movimientos con saldo cero. Devuelve 25 filas.</a:t>
            </a:r>
            <a:endParaRPr lang="en-US" sz="1400" dirty="0"/>
          </a:p>
        </p:txBody>
      </p:sp>
      <p:sp>
        <p:nvSpPr>
          <p:cNvPr id="7" name="Tarjeta vw_CarteraPrestamos"/>
          <p:cNvSpPr/>
          <p:nvPr/>
        </p:nvSpPr>
        <p:spPr>
          <a:xfrm>
            <a:off x="3291840" y="137160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8" name="Text 6"/>
          <p:cNvSpPr txBox="1"/>
          <p:nvPr/>
        </p:nvSpPr>
        <p:spPr>
          <a:xfrm>
            <a:off x="347472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vw_CarteraPrestamos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116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Une préstamo, cuenta y cliente. Con $1,200 al 12% durante 12 meses, el interés es $144 y la cuota referencial es $112.</a:t>
            </a:r>
            <a:endParaRPr lang="en-US" sz="1400" dirty="0"/>
          </a:p>
        </p:txBody>
      </p:sp>
      <p:sp>
        <p:nvSpPr>
          <p:cNvPr id="10" name="Tarjeta vw_ClientesEdad"/>
          <p:cNvSpPr/>
          <p:nvPr/>
        </p:nvSpPr>
        <p:spPr>
          <a:xfrm>
            <a:off x="6126480" y="1371600"/>
            <a:ext cx="2560320" cy="25603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9"/>
          <p:cNvSpPr txBox="1"/>
          <p:nvPr/>
        </p:nvSpPr>
        <p:spPr>
          <a:xfrm>
            <a:off x="6309360" y="15361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vw_ClientesEdad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011680"/>
            <a:ext cx="2194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Calcula la edad con la fecha de nacimiento y resta un año si aún no llega el cumpleaños. No hay que actualizarla cada año.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3 · Automatización y auditoría de datos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logs o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auditoría</a:t>
            </a: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son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</a:t>
            </a: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</a:t>
            </a: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importante</a:t>
            </a: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cualquier</a:t>
            </a: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600" b="1" dirty="0" err="1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</a:t>
            </a:r>
            <a:endParaRPr lang="en-US" sz="2600" dirty="0"/>
          </a:p>
        </p:txBody>
      </p:sp>
      <p:pic>
        <p:nvPicPr>
          <p:cNvPr id="4" name="Reporte de auditoría real en SQL Server" descr="Reporte de auditoría real en SQL Ser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3570750" cy="3154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553712"/>
            <a:ext cx="35707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</a:rPr>
              <a:t>Figura 2. Captura del reporte con la salida real de sqlcmd.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37160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Cuándo: </a:t>
            </a:r>
            <a:r>
              <a:rPr lang="en-US" sz="1400" dirty="0">
                <a:solidFill>
                  <a:schemeClr val="tx1"/>
                </a:solidFill>
              </a:rPr>
              <a:t>tr_CLIENTE_Auditoria se ejecuta después de un INSERT, UPDATE o DELETE.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Qué guarda: </a:t>
            </a:r>
            <a:r>
              <a:rPr lang="en-US" sz="1400" dirty="0">
                <a:solidFill>
                  <a:schemeClr val="tx1"/>
                </a:solidFill>
              </a:rPr>
              <a:t>la operación, el usuario SQL, la fecha UTC y las versiones anterior y nueva en JSON.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Prueba: </a:t>
            </a:r>
            <a:r>
              <a:rPr lang="en-US" sz="1400" dirty="0">
                <a:solidFill>
                  <a:schemeClr val="tx1"/>
                </a:solidFill>
              </a:rPr>
              <a:t>dos INSERT, dos UPDATE y dos DELETE, revertidos con ROLLBACK para no tocar los datos.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4 · Manual técnico del sistema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se instala en cuatro pasos y no reemplaza una base existente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SQL Server Express: </a:t>
            </a:r>
            <a:r>
              <a:rPr lang="en-US" sz="1400" dirty="0">
                <a:solidFill>
                  <a:schemeClr val="tx1"/>
                </a:solidFill>
              </a:rPr>
              <a:t>tablas, vistas, trigger y restricciones.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HTML y CSS: </a:t>
            </a:r>
            <a:r>
              <a:rPr lang="en-US" sz="1400" dirty="0">
                <a:solidFill>
                  <a:schemeClr val="tx1"/>
                </a:solidFill>
              </a:rPr>
              <a:t>pantallas para escritorio y móvil.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JavaScript: </a:t>
            </a:r>
            <a:r>
              <a:rPr lang="en-US" sz="1400" dirty="0">
                <a:solidFill>
                  <a:schemeClr val="tx1"/>
                </a:solidFill>
              </a:rPr>
              <a:t>navegación, formularios, validaciones y datos </a:t>
            </a:r>
            <a:r>
              <a:rPr lang="en-US" sz="1400" dirty="0" err="1">
                <a:solidFill>
                  <a:schemeClr val="tx1"/>
                </a:solidFill>
              </a:rPr>
              <a:t>ficticios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288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1. </a:t>
            </a:r>
            <a:r>
              <a:rPr lang="en-US" sz="1400" dirty="0">
                <a:solidFill>
                  <a:schemeClr val="tx1"/>
                </a:solidFill>
              </a:rPr>
              <a:t>Tener SQL Server Express (se probó con 2025) y permiso para crear bases.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3. </a:t>
            </a:r>
            <a:r>
              <a:rPr lang="en-US" sz="1400" dirty="0">
                <a:solidFill>
                  <a:schemeClr val="tx1"/>
                </a:solidFill>
              </a:rPr>
              <a:t>Ejecutar SQL/Instalar.ps1, o correr 01, 02 y 03 en SSMS.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4. </a:t>
            </a:r>
            <a:r>
              <a:rPr lang="en-US" sz="1400" dirty="0">
                <a:solidFill>
                  <a:schemeClr val="tx1"/>
                </a:solidFill>
              </a:rPr>
              <a:t>Correr 04 para las consultas, y 05 y 06 para verificar.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5 · Prototipo funcional del sistema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prototipo usa una paleta cálida y un panel que lleva a cada módulo</a:t>
            </a:r>
            <a:endParaRPr lang="en-US" sz="2600" dirty="0"/>
          </a:p>
        </p:txBody>
      </p:sp>
      <p:pic>
        <p:nvPicPr>
          <p:cNvPr id="4" name="Pantalla de acceso de demostración" descr="Pantalla de acceso de demostració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3052433" cy="2331720"/>
          </a:xfrm>
          <a:prstGeom prst="rect">
            <a:avLst/>
          </a:prstGeom>
        </p:spPr>
      </p:pic>
      <p:pic>
        <p:nvPicPr>
          <p:cNvPr id="5" name="Pantalla de inicio del prototipo" descr="Pantalla de inicio del prototip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463040"/>
            <a:ext cx="3052433" cy="23317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849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</a:rPr>
              <a:t>Figura 4. Acceso de demostración.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663440" y="3849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</a:rPr>
              <a:t>Figura 5. Inicio con contadores y accesos a los módulos.</a:t>
            </a:r>
            <a:endParaRPr lang="en-US" sz="1000" dirty="0"/>
          </a:p>
        </p:txBody>
      </p:sp>
      <p:sp>
        <p:nvSpPr>
          <p:cNvPr id="8" name="Muestra Terracota"/>
          <p:cNvSpPr/>
          <p:nvPr/>
        </p:nvSpPr>
        <p:spPr>
          <a:xfrm>
            <a:off x="457200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873E29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9" name="Text 5"/>
          <p:cNvSpPr txBox="1"/>
          <p:nvPr/>
        </p:nvSpPr>
        <p:spPr>
          <a:xfrm>
            <a:off x="896112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Terracota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#873E29</a:t>
            </a:r>
            <a:endParaRPr lang="en-US" sz="1000" dirty="0"/>
          </a:p>
        </p:txBody>
      </p:sp>
      <p:sp>
        <p:nvSpPr>
          <p:cNvPr id="10" name="Muestra Durazno"/>
          <p:cNvSpPr/>
          <p:nvPr/>
        </p:nvSpPr>
        <p:spPr>
          <a:xfrm>
            <a:off x="1847088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DBCC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1" name="Text 7"/>
          <p:cNvSpPr txBox="1"/>
          <p:nvPr/>
        </p:nvSpPr>
        <p:spPr>
          <a:xfrm>
            <a:off x="228600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Durazno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#FFDBCC</a:t>
            </a:r>
            <a:endParaRPr lang="en-US" sz="1000" dirty="0"/>
          </a:p>
        </p:txBody>
      </p:sp>
      <p:sp>
        <p:nvSpPr>
          <p:cNvPr id="12" name="Muestra Crema"/>
          <p:cNvSpPr/>
          <p:nvPr/>
        </p:nvSpPr>
        <p:spPr>
          <a:xfrm>
            <a:off x="3236976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F8F3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3" name="Text 9"/>
          <p:cNvSpPr txBox="1"/>
          <p:nvPr/>
        </p:nvSpPr>
        <p:spPr>
          <a:xfrm>
            <a:off x="3675888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Crema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#FFF8F3</a:t>
            </a:r>
            <a:endParaRPr lang="en-US" sz="1000" dirty="0"/>
          </a:p>
        </p:txBody>
      </p:sp>
      <p:sp>
        <p:nvSpPr>
          <p:cNvPr id="14" name="Muestra Ámbar"/>
          <p:cNvSpPr/>
          <p:nvPr/>
        </p:nvSpPr>
        <p:spPr>
          <a:xfrm>
            <a:off x="4626864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FFE3A3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5" name="Text 11"/>
          <p:cNvSpPr txBox="1"/>
          <p:nvPr/>
        </p:nvSpPr>
        <p:spPr>
          <a:xfrm>
            <a:off x="5065776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Ámbar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#FFE3A3</a:t>
            </a:r>
            <a:endParaRPr lang="en-US" sz="1000" dirty="0"/>
          </a:p>
        </p:txBody>
      </p:sp>
      <p:sp>
        <p:nvSpPr>
          <p:cNvPr id="16" name="Muestra Jade"/>
          <p:cNvSpPr/>
          <p:nvPr/>
        </p:nvSpPr>
        <p:spPr>
          <a:xfrm>
            <a:off x="6016752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45C4E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7" name="Text 13"/>
          <p:cNvSpPr txBox="1"/>
          <p:nvPr/>
        </p:nvSpPr>
        <p:spPr>
          <a:xfrm>
            <a:off x="6455664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Jade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#245C4E</a:t>
            </a:r>
            <a:endParaRPr lang="en-US" sz="1000" dirty="0"/>
          </a:p>
        </p:txBody>
      </p:sp>
      <p:sp>
        <p:nvSpPr>
          <p:cNvPr id="18" name="Muestra Texto"/>
          <p:cNvSpPr/>
          <p:nvPr/>
        </p:nvSpPr>
        <p:spPr>
          <a:xfrm>
            <a:off x="7406640" y="4206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B211C"/>
          </a:solidFill>
          <a:ln w="9525">
            <a:solidFill>
              <a:srgbClr val="D9C8BE"/>
            </a:solidFill>
            <a:prstDash val="solid"/>
          </a:ln>
        </p:spPr>
        <p:txBody>
          <a:bodyPr/>
          <a:lstStyle/>
          <a:p>
            <a:endParaRPr lang="es-SV"/>
          </a:p>
        </p:txBody>
      </p:sp>
      <p:sp>
        <p:nvSpPr>
          <p:cNvPr id="19" name="Text 15"/>
          <p:cNvSpPr txBox="1"/>
          <p:nvPr/>
        </p:nvSpPr>
        <p:spPr>
          <a:xfrm>
            <a:off x="7845552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11C"/>
                </a:solidFill>
              </a:rPr>
              <a:t>Texto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5B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#2B211C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Parte 5 · Prototipo funcional del sistema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módulo valida las reglas antes de guardar</a:t>
            </a:r>
            <a:endParaRPr lang="en-US" sz="2600" dirty="0"/>
          </a:p>
        </p:txBody>
      </p:sp>
      <p:pic>
        <p:nvPicPr>
          <p:cNvPr id="4" name="Clientes (Fig. 6)" descr="Clientes (Fig. 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8760"/>
            <a:ext cx="1621520" cy="1691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Clientes (Fig. 6)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57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DUI único y con formato válido. Al guardar se abre la primera cuenta con saldo cero.</a:t>
            </a:r>
            <a:endParaRPr lang="en-US" sz="1200" dirty="0"/>
          </a:p>
        </p:txBody>
      </p:sp>
      <p:pic>
        <p:nvPicPr>
          <p:cNvPr id="7" name="Transacciones (Fig. 7)" descr="Transacciones (Fig. 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508760"/>
            <a:ext cx="1920240" cy="15413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6032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Transacciones (Fig. 7)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2560320" y="3657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 retiro de $300 con $250 de saldo se rechaza por saldo insuficiente.</a:t>
            </a:r>
            <a:endParaRPr lang="en-US" sz="1200" dirty="0"/>
          </a:p>
        </p:txBody>
      </p:sp>
      <p:pic>
        <p:nvPicPr>
          <p:cNvPr id="10" name="Préstamos (Fig. 8)" descr="Préstamos (Fig. 8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508760"/>
            <a:ext cx="1885261" cy="1691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344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Préstamos (Fig. 8)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663440" y="3657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$1,200 al 12% durante 12 meses da una cuota referencial de $112.</a:t>
            </a:r>
            <a:endParaRPr lang="en-US" sz="1200" dirty="0"/>
          </a:p>
        </p:txBody>
      </p:sp>
      <p:pic>
        <p:nvPicPr>
          <p:cNvPr id="13" name="Empleados (Fig. 9)" descr="Empleados (Fig. 9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1508760"/>
            <a:ext cx="1778144" cy="16916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766560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Empleados (Fig. 9)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766560" y="36576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 admite DUI duplicado, sueldo no positivo ni ciclos entre jefes.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Conclusiones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411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Separar clientes y cuentas permite varias cuentas por cliente sin repetir datos.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Calcular la edad y el saldo evita guardar valores que se quedarían desactualizados.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Las vistas y las consultas responden preguntas concretas de la cooperativa.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trigger conserva el antes y el después de cada cambio en CLIENTE.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prototipo demuestra los procesos principales en una interfaz sencilla.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Repositorio del proyecto en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5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aVit">
  <a:themeElements>
    <a:clrScheme name="FonaVit">
      <a:dk1>
        <a:srgbClr val="2B211C"/>
      </a:dk1>
      <a:lt1>
        <a:srgbClr val="FFF8F3"/>
      </a:lt1>
      <a:dk2>
        <a:srgbClr val="873E29"/>
      </a:dk2>
      <a:lt2>
        <a:srgbClr val="FFDBCC"/>
      </a:lt2>
      <a:accent1>
        <a:srgbClr val="873E29"/>
      </a:accent1>
      <a:accent2>
        <a:srgbClr val="245C4E"/>
      </a:accent2>
      <a:accent3>
        <a:srgbClr val="FFE3A3"/>
      </a:accent3>
      <a:accent4>
        <a:srgbClr val="FFDBCC"/>
      </a:accent4>
      <a:accent5>
        <a:srgbClr val="6B5B52"/>
      </a:accent5>
      <a:accent6>
        <a:srgbClr val="D9C8BE"/>
      </a:accent6>
      <a:hlink>
        <a:srgbClr val="873E29"/>
      </a:hlink>
      <a:folHlink>
        <a:srgbClr val="245C4E"/>
      </a:folHlink>
    </a:clrScheme>
    <a:fontScheme name="FonaVi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781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Consolas</vt:lpstr>
      <vt:lpstr>Georgia</vt:lpstr>
      <vt:lpstr>FonaVit</vt:lpstr>
      <vt:lpstr>Tres niveles de normalización separan clientes, cuentas y movimientos</vt:lpstr>
      <vt:lpstr>Separar clientes y cuentas permite varias cuentas sin repetir datos</vt:lpstr>
      <vt:lpstr>Tres vistas calculan saldo, cuota y edad sin guardarlos</vt:lpstr>
      <vt:lpstr>Los logs o auditoría son una parte importante de cualquier sistema</vt:lpstr>
      <vt:lpstr>El sistema se instala en cuatro pasos y no reemplaza una base existente</vt:lpstr>
      <vt:lpstr>El prototipo usa una paleta cálida y un panel que lleva a cada módulo</vt:lpstr>
      <vt:lpstr>Cada módulo valida las reglas antes de guardar</vt:lpstr>
      <vt:lpstr>Conclusiones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FonaVitSV Fase II</dc:title>
  <dc:subject>PptxGenJS Presentation</dc:subject>
  <dc:creator>PptxGenJS</dc:creator>
  <cp:lastModifiedBy>Caleb Ortiz</cp:lastModifiedBy>
  <cp:revision>3</cp:revision>
  <dcterms:created xsi:type="dcterms:W3CDTF">2026-10-20T01:42:11Z</dcterms:created>
  <dcterms:modified xsi:type="dcterms:W3CDTF">2026-10-21T01:36:44Z</dcterms:modified>
</cp:coreProperties>
</file>